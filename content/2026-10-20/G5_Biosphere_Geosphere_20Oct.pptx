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800"/>
              <a:t>Thickness of Earth's layers (km)</a:t>
            </a:r>
          </a:p>
        </c:rich>
      </c:tx>
      <c:layout/>
      <c:overlay val="0"/>
    </c:title>
    <c:autoTitleDeleted val="0"/>
    <c:plotArea>
      <c:barChart>
        <c:barDir val="col"/>
        <c:grouping val="clustered"/>
        <c:ser>
          <c:idx val="0"/>
          <c:order val="0"/>
          <c:tx>
            <c:strRef>
              <c:f>Sheet1!$B$1</c:f>
              <c:strCache>
                <c:ptCount val="1"/>
                <c:pt idx="0">
                  <c:v>Thickness (km)</c:v>
                </c:pt>
              </c:strCache>
            </c:strRef>
          </c:tx>
          <c:dPt>
            <c:idx val="0"/>
            <c:spPr>
              <a:solidFill>
                <a:srgbClr val="2E9E5B"/>
              </a:solidFill>
            </c:spPr>
          </c:dPt>
          <c:dPt>
            <c:idx val="1"/>
            <c:spPr>
              <a:solidFill>
                <a:srgbClr val="F59E0B"/>
              </a:solidFill>
            </c:spPr>
          </c:dPt>
          <c:dPt>
            <c:idx val="2"/>
            <c:spPr>
              <a:solidFill>
                <a:srgbClr val="E53935"/>
              </a:solidFill>
            </c:spPr>
          </c:dPt>
          <c:dPt>
            <c:idx val="3"/>
            <c:spPr>
              <a:solidFill>
                <a:srgbClr val="8D5A2B"/>
              </a:solidFill>
            </c:spPr>
          </c:dPt>
          <c:cat>
            <c:strRef>
              <c:f>Sheet1!$A$2:$A$5</c:f>
              <c:strCache>
                <c:ptCount val="4"/>
                <c:pt idx="0">
                  <c:v>Continental crust</c:v>
                </c:pt>
                <c:pt idx="1">
                  <c:v>Inner core</c:v>
                </c:pt>
                <c:pt idx="2">
                  <c:v>Outer core</c:v>
                </c:pt>
                <c:pt idx="3">
                  <c:v>Mantle</c:v>
                </c:pt>
              </c:strCache>
            </c:strRef>
          </c:cat>
          <c:val>
            <c:numRef>
              <c:f>Sheet1!$B$2:$B$5</c:f>
              <c:numCache>
                <c:formatCode>General</c:formatCode>
                <c:ptCount val="4"/>
                <c:pt idx="0">
                  <c:v>25</c:v>
                </c:pt>
                <c:pt idx="1">
                  <c:v>1220</c:v>
                </c:pt>
                <c:pt idx="2">
                  <c:v>2260</c:v>
                </c:pt>
                <c:pt idx="3">
                  <c:v>2866</c:v>
                </c:pt>
              </c:numCache>
            </c:numRef>
          </c:val>
        </c:ser>
        <c:dLbls>
          <c:txPr>
            <a:bodyPr/>
            <a:lstStyle/>
            <a:p>
              <a:pPr>
                <a:defRPr sz="16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4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the biosphere, how living things depend on land and soil, and how the biosphere and geosphere interact.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Elevate Science Grade 5, Topic 3 Lesson 1 (I can statements and vocabulary).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 Connection: plows turn over soil so plants get water and nutrients more easily. Summarize answer: plowing breaks up soil, so plants reach water and nutrients and grow better.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Earth has all four systems. Seven of the planets have an atmosphere, but only Earth has a biosphere.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part of a system is damaged or missing, the system works less well and other systems may be affected.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Geosphere = rocks, soil and sediments, from the surface to the center. Some rock below the surface is molten (melted).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 data (Math Toolbox): inner core 1,220 km; outer core 2,260 km; mantle 2,866 km; continental crust about 25 km average. Mantle is about 115 times thicker than the crust on average, so mantle is much thicker.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Lithosphere: crust plus the outer, rigid part of the mantle; can extend over 200 km (124 miles) below continents; also forms the ocean floor.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biosphere includes ALL living things: living things in the air, in the water, and on land, including humans (Savvas eText pp104-105). Air, water and the sun are nonliving - they are places where living things live, not parts of the biosphere (p106).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 the biosphere interacts with the other spheres (geosphere, hydrosphere, atmosphere). Effect: it can support millions of kinds of living things. Mountain lion on a rock shows living thing + geosphere.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Soil is part of the geosphere. Plants get water and nutrients from soil; animals eat plants. Plowing (from the warm-up) makes soil easier for roots.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Interaction: living things and rocks/soil affect each other. Examples: roots breaking rock (biosphere affects geosphere); plowing/farming changes soil; soil gives nutrients to plants (geosphere supports biosphere).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Acid rain: rainwater picks up pollutants and becomes harmful. It enters lakes and streams, strips minerals like aluminum from soil, harms organisms that need soil or drink polluted water, and changes gases in the atmosphere. Question: how might acid rain's effect on soil affect crops and plants? Answer: stripped minerals mean less healthy soil, so crops and plants may grow poorly.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 activities: (1) uInvestigate Lab: How does water move through soil? (worksheet on the book site). (2) Earth layers cross-section model with an adult using a mixing bowl.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1) The biosphere is made of all living things - living things in the air, in the water, and on land, including humans. 2) The lithosphere is the outer rocky part of Earth: crust plus the rigid top of the mantle. It is part of the geosphere. 3) Plants take water and nutrients from soil; animals eat plants. 4) Roots splitting rock, or plowing changing soil. 5) Cause: polluted rain; effect: soil loses minerals, harming plants.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Exit ticket via SmartStudio or sticky note: write one fact about the biosphere and one way it interacts with the geosphere.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1.jpg"/><Relationship Id="rId4"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4B"/>
        </a:solidFill>
        <a:effectLst/>
      </p:bgPr>
    </p:bg>
    <p:spTree>
      <p:nvGrpSpPr>
        <p:cNvPr id="1" name=""/>
        <p:cNvGrpSpPr/>
        <p:nvPr/>
      </p:nvGrpSpPr>
      <p:grpSpPr/>
      <p:sp>
        <p:nvSpPr>
          <p:cNvPr id="2" name="Rectangle 1"/>
          <p:cNvSpPr/>
          <p:nvPr/>
        </p:nvSpPr>
        <p:spPr>
          <a:xfrm>
            <a:off x="0" y="5394960"/>
            <a:ext cx="12191695" cy="146304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822960"/>
            <a:ext cx="6217920" cy="457200"/>
          </a:xfrm>
          <a:prstGeom prst="rect">
            <a:avLst/>
          </a:prstGeom>
          <a:noFill/>
        </p:spPr>
        <p:txBody>
          <a:bodyPr wrap="square" anchor="t">
            <a:spAutoFit/>
          </a:bodyPr>
          <a:lstStyle/>
          <a:p>
            <a:pPr algn="l">
              <a:spcAft>
                <a:spcPts val="800"/>
              </a:spcAft>
            </a:pPr>
            <a:r>
              <a:rPr sz="1600" b="1">
                <a:solidFill>
                  <a:srgbClr val="F59E0B"/>
                </a:solidFill>
                <a:latin typeface="Arial"/>
              </a:rPr>
              <a:t>GRADE 5 SCIENCE  |  TOPIC 3: EARTH'S SYSTEMS</a:t>
            </a:r>
          </a:p>
        </p:txBody>
      </p:sp>
      <p:sp>
        <p:nvSpPr>
          <p:cNvPr id="4" name="TextBox 3"/>
          <p:cNvSpPr txBox="1"/>
          <p:nvPr/>
        </p:nvSpPr>
        <p:spPr>
          <a:xfrm>
            <a:off x="548640" y="1463040"/>
            <a:ext cx="6217920" cy="2194560"/>
          </a:xfrm>
          <a:prstGeom prst="rect">
            <a:avLst/>
          </a:prstGeom>
          <a:noFill/>
        </p:spPr>
        <p:txBody>
          <a:bodyPr wrap="square" anchor="t">
            <a:spAutoFit/>
          </a:bodyPr>
          <a:lstStyle/>
          <a:p>
            <a:pPr algn="l">
              <a:spcAft>
                <a:spcPts val="800"/>
              </a:spcAft>
            </a:pPr>
            <a:r>
              <a:rPr sz="4800" b="1">
                <a:solidFill>
                  <a:srgbClr val="FFFFFF"/>
                </a:solidFill>
                <a:latin typeface="Arial"/>
              </a:rPr>
              <a:t>The Biosphere</a:t>
            </a:r>
          </a:p>
          <a:p>
            <a:pPr algn="l">
              <a:spcAft>
                <a:spcPts val="800"/>
              </a:spcAft>
            </a:pPr>
            <a:r>
              <a:rPr sz="4800" b="1">
                <a:solidFill>
                  <a:srgbClr val="FFFFFF"/>
                </a:solidFill>
                <a:latin typeface="Arial"/>
              </a:rPr>
              <a:t>and the Geosphere</a:t>
            </a:r>
          </a:p>
        </p:txBody>
      </p:sp>
      <p:sp>
        <p:nvSpPr>
          <p:cNvPr id="5" name="TextBox 4"/>
          <p:cNvSpPr txBox="1"/>
          <p:nvPr/>
        </p:nvSpPr>
        <p:spPr>
          <a:xfrm>
            <a:off x="548640" y="3749039"/>
            <a:ext cx="6217920" cy="1097280"/>
          </a:xfrm>
          <a:prstGeom prst="rect">
            <a:avLst/>
          </a:prstGeom>
          <a:noFill/>
        </p:spPr>
        <p:txBody>
          <a:bodyPr wrap="square" anchor="t">
            <a:spAutoFit/>
          </a:bodyPr>
          <a:lstStyle/>
          <a:p>
            <a:pPr algn="l">
              <a:spcAft>
                <a:spcPts val="800"/>
              </a:spcAft>
            </a:pPr>
            <a:r>
              <a:rPr sz="2200" b="0">
                <a:solidFill>
                  <a:srgbClr val="CFE8FF"/>
                </a:solidFill>
                <a:latin typeface="Arial"/>
              </a:rPr>
              <a:t>Lesson 1, Session 3: Living things and the land they depend on</a:t>
            </a:r>
          </a:p>
        </p:txBody>
      </p:sp>
      <p:sp>
        <p:nvSpPr>
          <p:cNvPr id="6" name="TextBox 5"/>
          <p:cNvSpPr txBox="1"/>
          <p:nvPr/>
        </p:nvSpPr>
        <p:spPr>
          <a:xfrm>
            <a:off x="548640" y="5669280"/>
            <a:ext cx="7315200" cy="731520"/>
          </a:xfrm>
          <a:prstGeom prst="rect">
            <a:avLst/>
          </a:prstGeom>
          <a:noFill/>
        </p:spPr>
        <p:txBody>
          <a:bodyPr wrap="square" anchor="t">
            <a:spAutoFit/>
          </a:bodyPr>
          <a:lstStyle/>
          <a:p>
            <a:pPr algn="l">
              <a:spcAft>
                <a:spcPts val="800"/>
              </a:spcAft>
            </a:pPr>
            <a:r>
              <a:rPr sz="2000" b="1">
                <a:solidFill>
                  <a:srgbClr val="FFFFFF"/>
                </a:solidFill>
                <a:latin typeface="Arial"/>
              </a:rPr>
              <a:t>Elevate Science Grade 5  |  Mr. Ibrahim</a:t>
            </a:r>
          </a:p>
        </p:txBody>
      </p:sp>
      <p:sp>
        <p:nvSpPr>
          <p:cNvPr id="7" name="Rounded Rectangle 6"/>
          <p:cNvSpPr/>
          <p:nvPr/>
        </p:nvSpPr>
        <p:spPr>
          <a:xfrm>
            <a:off x="7040880" y="822960"/>
            <a:ext cx="4663440" cy="365760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itle.jpg"/>
          <p:cNvPicPr>
            <a:picLocks noChangeAspect="1"/>
          </p:cNvPicPr>
          <p:nvPr/>
        </p:nvPicPr>
        <p:blipFill>
          <a:blip r:embed="rId2"/>
          <a:stretch>
            <a:fillRect/>
          </a:stretch>
        </p:blipFill>
        <p:spPr>
          <a:xfrm>
            <a:off x="7132320" y="914400"/>
            <a:ext cx="4480560" cy="34747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Today I Can...</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Rounded Rectangle 4"/>
          <p:cNvSpPr/>
          <p:nvPr/>
        </p:nvSpPr>
        <p:spPr>
          <a:xfrm>
            <a:off x="457200" y="1280160"/>
            <a:ext cx="5669280" cy="2743200"/>
          </a:xfrm>
          <a:prstGeom prst="roundRect">
            <a:avLst>
              <a:gd name="adj" fmla="val 8000"/>
            </a:avLst>
          </a:prstGeom>
          <a:solidFill>
            <a:srgbClr val="FFFFFF"/>
          </a:solidFill>
          <a:ln w="25400">
            <a:solidFill>
              <a:srgbClr val="1E88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280160"/>
            <a:ext cx="5669280" cy="548640"/>
          </a:xfrm>
          <a:prstGeom prst="roundRect">
            <a:avLst>
              <a:gd name="adj" fmla="val 8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280160"/>
            <a:ext cx="5669280" cy="548640"/>
          </a:xfrm>
          <a:prstGeom prst="rect">
            <a:avLst/>
          </a:prstGeom>
          <a:noFill/>
        </p:spPr>
        <p:txBody>
          <a:bodyPr wrap="square" anchor="ctr">
            <a:spAutoFit/>
          </a:bodyPr>
          <a:lstStyle/>
          <a:p>
            <a:pPr algn="ctr">
              <a:spcAft>
                <a:spcPts val="800"/>
              </a:spcAft>
            </a:pPr>
            <a:r>
              <a:rPr sz="2200" b="1">
                <a:solidFill>
                  <a:srgbClr val="FFFFFF"/>
                </a:solidFill>
                <a:latin typeface="Arial"/>
              </a:rPr>
              <a:t>I can...</a:t>
            </a:r>
          </a:p>
        </p:txBody>
      </p:sp>
      <p:sp>
        <p:nvSpPr>
          <p:cNvPr id="8" name="TextBox 7"/>
          <p:cNvSpPr txBox="1"/>
          <p:nvPr/>
        </p:nvSpPr>
        <p:spPr>
          <a:xfrm>
            <a:off x="548640" y="1920239"/>
            <a:ext cx="5486400" cy="2011680"/>
          </a:xfrm>
          <a:prstGeom prst="rect">
            <a:avLst/>
          </a:prstGeom>
          <a:noFill/>
        </p:spPr>
        <p:txBody>
          <a:bodyPr wrap="square" anchor="t">
            <a:spAutoFit/>
          </a:bodyPr>
          <a:lstStyle/>
          <a:p>
            <a:pPr algn="l">
              <a:spcAft>
                <a:spcPts val="800"/>
              </a:spcAft>
            </a:pPr>
            <a:r>
              <a:rPr sz="1900" b="0">
                <a:solidFill>
                  <a:srgbClr val="1B3A4B"/>
                </a:solidFill>
                <a:latin typeface="Arial"/>
              </a:rPr>
              <a:t>Define the biosphere as Earth's living things.</a:t>
            </a:r>
          </a:p>
          <a:p>
            <a:pPr algn="l">
              <a:spcAft>
                <a:spcPts val="800"/>
              </a:spcAft>
            </a:pPr>
            <a:r>
              <a:rPr sz="1900" b="0">
                <a:solidFill>
                  <a:srgbClr val="1B3A4B"/>
                </a:solidFill>
                <a:latin typeface="Arial"/>
              </a:rPr>
              <a:t>Explain how organisms depend on land and soil.</a:t>
            </a:r>
          </a:p>
          <a:p>
            <a:pPr algn="l">
              <a:spcAft>
                <a:spcPts val="800"/>
              </a:spcAft>
            </a:pPr>
            <a:r>
              <a:rPr sz="1900" b="0">
                <a:solidFill>
                  <a:srgbClr val="1B3A4B"/>
                </a:solidFill>
                <a:latin typeface="Arial"/>
              </a:rPr>
              <a:t>Describe an interaction between the biosphere and the geosphere.</a:t>
            </a:r>
          </a:p>
        </p:txBody>
      </p:sp>
      <p:sp>
        <p:nvSpPr>
          <p:cNvPr id="9" name="Rounded Rectangle 8"/>
          <p:cNvSpPr/>
          <p:nvPr/>
        </p:nvSpPr>
        <p:spPr>
          <a:xfrm>
            <a:off x="457200" y="4206240"/>
            <a:ext cx="5669280" cy="2148840"/>
          </a:xfrm>
          <a:prstGeom prst="roundRect">
            <a:avLst>
              <a:gd name="adj" fmla="val 8000"/>
            </a:avLst>
          </a:prstGeom>
          <a:solidFill>
            <a:srgbClr val="FFFFFF"/>
          </a:solidFill>
          <a:ln w="25400">
            <a:solidFill>
              <a:srgbClr val="7B4B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206240"/>
            <a:ext cx="5669280" cy="548640"/>
          </a:xfrm>
          <a:prstGeom prst="roundRect">
            <a:avLst>
              <a:gd name="adj" fmla="val 8000"/>
            </a:avLst>
          </a:prstGeom>
          <a:solidFill>
            <a:srgbClr val="7B4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4206240"/>
            <a:ext cx="5669280" cy="548640"/>
          </a:xfrm>
          <a:prstGeom prst="rect">
            <a:avLst/>
          </a:prstGeom>
          <a:noFill/>
        </p:spPr>
        <p:txBody>
          <a:bodyPr wrap="square" anchor="ctr">
            <a:spAutoFit/>
          </a:bodyPr>
          <a:lstStyle/>
          <a:p>
            <a:pPr algn="ctr">
              <a:spcAft>
                <a:spcPts val="800"/>
              </a:spcAft>
            </a:pPr>
            <a:r>
              <a:rPr sz="2200" b="1">
                <a:solidFill>
                  <a:srgbClr val="FFFFFF"/>
                </a:solidFill>
                <a:latin typeface="Arial"/>
              </a:rPr>
              <a:t>Skill: Cause and Effect</a:t>
            </a:r>
          </a:p>
        </p:txBody>
      </p:sp>
      <p:sp>
        <p:nvSpPr>
          <p:cNvPr id="12" name="TextBox 11"/>
          <p:cNvSpPr txBox="1"/>
          <p:nvPr/>
        </p:nvSpPr>
        <p:spPr>
          <a:xfrm>
            <a:off x="548640" y="4846320"/>
            <a:ext cx="5486400" cy="1417320"/>
          </a:xfrm>
          <a:prstGeom prst="rect">
            <a:avLst/>
          </a:prstGeom>
          <a:noFill/>
        </p:spPr>
        <p:txBody>
          <a:bodyPr wrap="square" anchor="t">
            <a:spAutoFit/>
          </a:bodyPr>
          <a:lstStyle/>
          <a:p>
            <a:pPr algn="l">
              <a:spcAft>
                <a:spcPts val="800"/>
              </a:spcAft>
            </a:pPr>
            <a:r>
              <a:rPr sz="1800" b="0">
                <a:solidFill>
                  <a:srgbClr val="1B3A4B"/>
                </a:solidFill>
                <a:latin typeface="Arial"/>
              </a:rPr>
              <a:t>Find what happens (effect) and why it happens (cause).</a:t>
            </a:r>
          </a:p>
          <a:p>
            <a:pPr algn="l">
              <a:spcAft>
                <a:spcPts val="800"/>
              </a:spcAft>
            </a:pPr>
            <a:r>
              <a:rPr sz="1800" b="0">
                <a:solidFill>
                  <a:srgbClr val="1B3A4B"/>
                </a:solidFill>
                <a:latin typeface="Arial"/>
              </a:rPr>
              <a:t>Example: Plowing (cause) helps plants grow better (effect).</a:t>
            </a:r>
          </a:p>
        </p:txBody>
      </p:sp>
      <p:sp>
        <p:nvSpPr>
          <p:cNvPr id="13" name="Rounded Rectangle 12"/>
          <p:cNvSpPr/>
          <p:nvPr/>
        </p:nvSpPr>
        <p:spPr>
          <a:xfrm>
            <a:off x="6400800" y="1371600"/>
            <a:ext cx="5303520" cy="4846320"/>
          </a:xfrm>
          <a:prstGeom prst="roundRect">
            <a:avLst>
              <a:gd name="adj" fmla="val 8000"/>
            </a:avLst>
          </a:prstGeom>
          <a:solidFill>
            <a:srgbClr val="FFFFFF"/>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0" y="1371600"/>
            <a:ext cx="5303520" cy="54864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371600"/>
            <a:ext cx="5303520" cy="548640"/>
          </a:xfrm>
          <a:prstGeom prst="rect">
            <a:avLst/>
          </a:prstGeom>
          <a:noFill/>
        </p:spPr>
        <p:txBody>
          <a:bodyPr wrap="square" anchor="ctr">
            <a:spAutoFit/>
          </a:bodyPr>
          <a:lstStyle/>
          <a:p>
            <a:pPr algn="ctr">
              <a:spcAft>
                <a:spcPts val="800"/>
              </a:spcAft>
            </a:pPr>
            <a:r>
              <a:rPr sz="2200" b="1">
                <a:solidFill>
                  <a:srgbClr val="FFFFFF"/>
                </a:solidFill>
                <a:latin typeface="Arial"/>
              </a:rPr>
              <a:t>Key Words</a:t>
            </a:r>
          </a:p>
        </p:txBody>
      </p:sp>
      <p:sp>
        <p:nvSpPr>
          <p:cNvPr id="16" name="TextBox 15"/>
          <p:cNvSpPr txBox="1"/>
          <p:nvPr/>
        </p:nvSpPr>
        <p:spPr>
          <a:xfrm>
            <a:off x="6492240" y="2011680"/>
            <a:ext cx="5120640" cy="4114800"/>
          </a:xfrm>
          <a:prstGeom prst="rect">
            <a:avLst/>
          </a:prstGeom>
          <a:noFill/>
        </p:spPr>
        <p:txBody>
          <a:bodyPr wrap="square" anchor="t">
            <a:spAutoFit/>
          </a:bodyPr>
          <a:lstStyle/>
          <a:p>
            <a:pPr algn="l">
              <a:spcAft>
                <a:spcPts val="800"/>
              </a:spcAft>
            </a:pPr>
            <a:r>
              <a:rPr sz="2200" b="0">
                <a:solidFill>
                  <a:srgbClr val="1B3A4B"/>
                </a:solidFill>
                <a:latin typeface="Arial"/>
              </a:rPr>
              <a:t>biosphere: all living things on Earth</a:t>
            </a:r>
          </a:p>
          <a:p>
            <a:pPr algn="l">
              <a:spcAft>
                <a:spcPts val="800"/>
              </a:spcAft>
            </a:pPr>
            <a:r>
              <a:rPr sz="2200" b="0">
                <a:solidFill>
                  <a:srgbClr val="1B3A4B"/>
                </a:solidFill>
                <a:latin typeface="Arial"/>
              </a:rPr>
              <a:t>geosphere: rocks, soil and sediments</a:t>
            </a:r>
          </a:p>
          <a:p>
            <a:pPr algn="l">
              <a:spcAft>
                <a:spcPts val="800"/>
              </a:spcAft>
            </a:pPr>
            <a:r>
              <a:rPr sz="2200" b="0">
                <a:solidFill>
                  <a:srgbClr val="1B3A4B"/>
                </a:solidFill>
                <a:latin typeface="Arial"/>
              </a:rPr>
              <a:t>lithosphere: Earth's rigid outer layer</a:t>
            </a:r>
          </a:p>
          <a:p>
            <a:pPr algn="l">
              <a:spcAft>
                <a:spcPts val="800"/>
              </a:spcAft>
            </a:pPr>
            <a:r>
              <a:rPr sz="2200" b="0">
                <a:solidFill>
                  <a:srgbClr val="1B3A4B"/>
                </a:solidFill>
                <a:latin typeface="Arial"/>
              </a:rPr>
              <a:t>system: parts that work together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Warm-Up: The Plow</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Rounded Rectangle 4"/>
          <p:cNvSpPr/>
          <p:nvPr/>
        </p:nvSpPr>
        <p:spPr>
          <a:xfrm>
            <a:off x="566928" y="1389888"/>
            <a:ext cx="5449824" cy="4123944"/>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low.jpg"/>
          <p:cNvPicPr>
            <a:picLocks noChangeAspect="1"/>
          </p:cNvPicPr>
          <p:nvPr/>
        </p:nvPicPr>
        <p:blipFill>
          <a:blip r:embed="rId3"/>
          <a:stretch>
            <a:fillRect/>
          </a:stretch>
        </p:blipFill>
        <p:spPr>
          <a:xfrm>
            <a:off x="640080" y="1463040"/>
            <a:ext cx="5303520" cy="3977639"/>
          </a:xfrm>
          <a:prstGeom prst="rect">
            <a:avLst/>
          </a:prstGeom>
        </p:spPr>
      </p:pic>
      <p:sp>
        <p:nvSpPr>
          <p:cNvPr id="7" name="TextBox 6"/>
          <p:cNvSpPr txBox="1"/>
          <p:nvPr/>
        </p:nvSpPr>
        <p:spPr>
          <a:xfrm>
            <a:off x="6400800" y="1371600"/>
            <a:ext cx="5303520" cy="3200400"/>
          </a:xfrm>
          <a:prstGeom prst="rect">
            <a:avLst/>
          </a:prstGeom>
          <a:noFill/>
        </p:spPr>
        <p:txBody>
          <a:bodyPr wrap="square" anchor="t">
            <a:spAutoFit/>
          </a:bodyPr>
          <a:lstStyle/>
          <a:p>
            <a:pPr algn="l">
              <a:spcAft>
                <a:spcPts val="800"/>
              </a:spcAft>
            </a:pPr>
            <a:r>
              <a:rPr sz="2200" b="0">
                <a:solidFill>
                  <a:srgbClr val="1B3A4B"/>
                </a:solidFill>
                <a:latin typeface="Arial"/>
              </a:rPr>
              <a:t>• A plow turns over the soil.</a:t>
            </a:r>
          </a:p>
          <a:p>
            <a:pPr algn="l">
              <a:spcAft>
                <a:spcPts val="800"/>
              </a:spcAft>
            </a:pPr>
            <a:r>
              <a:rPr sz="2200" b="0">
                <a:solidFill>
                  <a:srgbClr val="1B3A4B"/>
                </a:solidFill>
                <a:latin typeface="Arial"/>
              </a:rPr>
              <a:t>• Before plows, farmers used digging sticks.</a:t>
            </a:r>
          </a:p>
          <a:p>
            <a:pPr algn="l">
              <a:spcAft>
                <a:spcPts val="800"/>
              </a:spcAft>
            </a:pPr>
            <a:r>
              <a:rPr sz="2200" b="0">
                <a:solidFill>
                  <a:srgbClr val="1B3A4B"/>
                </a:solidFill>
                <a:latin typeface="Arial"/>
              </a:rPr>
              <a:t>• Plowed soil lets plants get water and nutrients more easily.</a:t>
            </a:r>
          </a:p>
          <a:p>
            <a:pPr algn="l">
              <a:spcAft>
                <a:spcPts val="800"/>
              </a:spcAft>
            </a:pPr>
            <a:r>
              <a:rPr sz="2200" b="0">
                <a:solidFill>
                  <a:srgbClr val="1B3A4B"/>
                </a:solidFill>
                <a:latin typeface="Arial"/>
              </a:rPr>
              <a:t>• Better growing plants make more food.</a:t>
            </a:r>
          </a:p>
        </p:txBody>
      </p:sp>
      <p:sp>
        <p:nvSpPr>
          <p:cNvPr id="8" name="Rounded Rectangle 7"/>
          <p:cNvSpPr/>
          <p:nvPr/>
        </p:nvSpPr>
        <p:spPr>
          <a:xfrm>
            <a:off x="6400800" y="4754880"/>
            <a:ext cx="5303520" cy="1371600"/>
          </a:xfrm>
          <a:prstGeom prst="roundRect">
            <a:avLst>
              <a:gd name="adj" fmla="val 8000"/>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4754880"/>
            <a:ext cx="5120640" cy="1371600"/>
          </a:xfrm>
          <a:prstGeom prst="rect">
            <a:avLst/>
          </a:prstGeom>
          <a:noFill/>
        </p:spPr>
        <p:txBody>
          <a:bodyPr wrap="square" anchor="ctr">
            <a:spAutoFit/>
          </a:bodyPr>
          <a:lstStyle/>
          <a:p>
            <a:pPr algn="ctr">
              <a:spcAft>
                <a:spcPts val="800"/>
              </a:spcAft>
            </a:pPr>
            <a:r>
              <a:rPr sz="2400" b="1">
                <a:solidFill>
                  <a:srgbClr val="FFFFFF"/>
                </a:solidFill>
                <a:latin typeface="Arial"/>
              </a:rPr>
              <a:t>Think: How does plowing help plants grow better?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Earth Has Four Major Systems</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Rounded Rectangle 4"/>
          <p:cNvSpPr/>
          <p:nvPr/>
        </p:nvSpPr>
        <p:spPr>
          <a:xfrm>
            <a:off x="566928" y="1389888"/>
            <a:ext cx="5084064" cy="3849624"/>
          </a:xfrm>
          <a:prstGeom prst="roundRect">
            <a:avLst>
              <a:gd name="adj" fmla="val 8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pheres.jpg"/>
          <p:cNvPicPr>
            <a:picLocks noChangeAspect="1"/>
          </p:cNvPicPr>
          <p:nvPr/>
        </p:nvPicPr>
        <p:blipFill>
          <a:blip r:embed="rId3"/>
          <a:stretch>
            <a:fillRect/>
          </a:stretch>
        </p:blipFill>
        <p:spPr>
          <a:xfrm>
            <a:off x="640080" y="1463040"/>
            <a:ext cx="4937760" cy="3703320"/>
          </a:xfrm>
          <a:prstGeom prst="rect">
            <a:avLst/>
          </a:prstGeom>
        </p:spPr>
      </p:pic>
      <p:sp>
        <p:nvSpPr>
          <p:cNvPr id="7" name="Rounded Rectangle 6"/>
          <p:cNvSpPr/>
          <p:nvPr/>
        </p:nvSpPr>
        <p:spPr>
          <a:xfrm>
            <a:off x="6035040" y="1463040"/>
            <a:ext cx="2743200" cy="1463040"/>
          </a:xfrm>
          <a:prstGeom prst="roundRect">
            <a:avLst>
              <a:gd name="adj" fmla="val 8000"/>
            </a:avLst>
          </a:prstGeom>
          <a:solidFill>
            <a:srgbClr val="8D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0" y="1554480"/>
            <a:ext cx="2743200" cy="548640"/>
          </a:xfrm>
          <a:prstGeom prst="rect">
            <a:avLst/>
          </a:prstGeom>
          <a:noFill/>
        </p:spPr>
        <p:txBody>
          <a:bodyPr wrap="square" anchor="t">
            <a:spAutoFit/>
          </a:bodyPr>
          <a:lstStyle/>
          <a:p>
            <a:pPr algn="ctr">
              <a:spcAft>
                <a:spcPts val="800"/>
              </a:spcAft>
            </a:pPr>
            <a:r>
              <a:rPr sz="2400" b="1">
                <a:solidFill>
                  <a:srgbClr val="FFFFFF"/>
                </a:solidFill>
                <a:latin typeface="Arial"/>
              </a:rPr>
              <a:t>Geosphere</a:t>
            </a:r>
          </a:p>
        </p:txBody>
      </p:sp>
      <p:sp>
        <p:nvSpPr>
          <p:cNvPr id="9" name="TextBox 8"/>
          <p:cNvSpPr txBox="1"/>
          <p:nvPr/>
        </p:nvSpPr>
        <p:spPr>
          <a:xfrm>
            <a:off x="6035040" y="2148840"/>
            <a:ext cx="2743200" cy="640080"/>
          </a:xfrm>
          <a:prstGeom prst="rect">
            <a:avLst/>
          </a:prstGeom>
          <a:noFill/>
        </p:spPr>
        <p:txBody>
          <a:bodyPr wrap="square" anchor="t">
            <a:spAutoFit/>
          </a:bodyPr>
          <a:lstStyle/>
          <a:p>
            <a:pPr algn="ctr">
              <a:spcAft>
                <a:spcPts val="800"/>
              </a:spcAft>
            </a:pPr>
            <a:r>
              <a:rPr sz="1800" b="0">
                <a:solidFill>
                  <a:srgbClr val="FFFFFF"/>
                </a:solidFill>
                <a:latin typeface="Arial"/>
              </a:rPr>
              <a:t>rocks, soil, sediments</a:t>
            </a:r>
          </a:p>
        </p:txBody>
      </p:sp>
      <p:sp>
        <p:nvSpPr>
          <p:cNvPr id="10" name="Rounded Rectangle 9"/>
          <p:cNvSpPr/>
          <p:nvPr/>
        </p:nvSpPr>
        <p:spPr>
          <a:xfrm>
            <a:off x="8915400" y="1463040"/>
            <a:ext cx="2743200" cy="1463040"/>
          </a:xfrm>
          <a:prstGeom prst="roundRect">
            <a:avLst>
              <a:gd name="adj" fmla="val 8000"/>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15400" y="1554480"/>
            <a:ext cx="2743200" cy="548640"/>
          </a:xfrm>
          <a:prstGeom prst="rect">
            <a:avLst/>
          </a:prstGeom>
          <a:noFill/>
        </p:spPr>
        <p:txBody>
          <a:bodyPr wrap="square" anchor="t">
            <a:spAutoFit/>
          </a:bodyPr>
          <a:lstStyle/>
          <a:p>
            <a:pPr algn="ctr">
              <a:spcAft>
                <a:spcPts val="800"/>
              </a:spcAft>
            </a:pPr>
            <a:r>
              <a:rPr sz="2400" b="1">
                <a:solidFill>
                  <a:srgbClr val="FFFFFF"/>
                </a:solidFill>
                <a:latin typeface="Arial"/>
              </a:rPr>
              <a:t>Biosphere</a:t>
            </a:r>
          </a:p>
        </p:txBody>
      </p:sp>
      <p:sp>
        <p:nvSpPr>
          <p:cNvPr id="12" name="TextBox 11"/>
          <p:cNvSpPr txBox="1"/>
          <p:nvPr/>
        </p:nvSpPr>
        <p:spPr>
          <a:xfrm>
            <a:off x="8915400" y="2148840"/>
            <a:ext cx="2743200" cy="640080"/>
          </a:xfrm>
          <a:prstGeom prst="rect">
            <a:avLst/>
          </a:prstGeom>
          <a:noFill/>
        </p:spPr>
        <p:txBody>
          <a:bodyPr wrap="square" anchor="t">
            <a:spAutoFit/>
          </a:bodyPr>
          <a:lstStyle/>
          <a:p>
            <a:pPr algn="ctr">
              <a:spcAft>
                <a:spcPts val="800"/>
              </a:spcAft>
            </a:pPr>
            <a:r>
              <a:rPr sz="1800" b="0">
                <a:solidFill>
                  <a:srgbClr val="FFFFFF"/>
                </a:solidFill>
                <a:latin typeface="Arial"/>
              </a:rPr>
              <a:t>all living things</a:t>
            </a:r>
          </a:p>
        </p:txBody>
      </p:sp>
      <p:sp>
        <p:nvSpPr>
          <p:cNvPr id="13" name="Rounded Rectangle 12"/>
          <p:cNvSpPr/>
          <p:nvPr/>
        </p:nvSpPr>
        <p:spPr>
          <a:xfrm>
            <a:off x="6035040" y="3063240"/>
            <a:ext cx="2743200" cy="1463040"/>
          </a:xfrm>
          <a:prstGeom prst="roundRect">
            <a:avLst>
              <a:gd name="adj" fmla="val 8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3154680"/>
            <a:ext cx="2743200" cy="548640"/>
          </a:xfrm>
          <a:prstGeom prst="rect">
            <a:avLst/>
          </a:prstGeom>
          <a:noFill/>
        </p:spPr>
        <p:txBody>
          <a:bodyPr wrap="square" anchor="t">
            <a:spAutoFit/>
          </a:bodyPr>
          <a:lstStyle/>
          <a:p>
            <a:pPr algn="ctr">
              <a:spcAft>
                <a:spcPts val="800"/>
              </a:spcAft>
            </a:pPr>
            <a:r>
              <a:rPr sz="2400" b="1">
                <a:solidFill>
                  <a:srgbClr val="FFFFFF"/>
                </a:solidFill>
                <a:latin typeface="Arial"/>
              </a:rPr>
              <a:t>Hydrosphere</a:t>
            </a:r>
          </a:p>
        </p:txBody>
      </p:sp>
      <p:sp>
        <p:nvSpPr>
          <p:cNvPr id="15" name="TextBox 14"/>
          <p:cNvSpPr txBox="1"/>
          <p:nvPr/>
        </p:nvSpPr>
        <p:spPr>
          <a:xfrm>
            <a:off x="6035040" y="3749039"/>
            <a:ext cx="2743200" cy="640080"/>
          </a:xfrm>
          <a:prstGeom prst="rect">
            <a:avLst/>
          </a:prstGeom>
          <a:noFill/>
        </p:spPr>
        <p:txBody>
          <a:bodyPr wrap="square" anchor="t">
            <a:spAutoFit/>
          </a:bodyPr>
          <a:lstStyle/>
          <a:p>
            <a:pPr algn="ctr">
              <a:spcAft>
                <a:spcPts val="800"/>
              </a:spcAft>
            </a:pPr>
            <a:r>
              <a:rPr sz="1800" b="0">
                <a:solidFill>
                  <a:srgbClr val="FFFFFF"/>
                </a:solidFill>
                <a:latin typeface="Arial"/>
              </a:rPr>
              <a:t>water</a:t>
            </a:r>
          </a:p>
        </p:txBody>
      </p:sp>
      <p:sp>
        <p:nvSpPr>
          <p:cNvPr id="16" name="Rounded Rectangle 15"/>
          <p:cNvSpPr/>
          <p:nvPr/>
        </p:nvSpPr>
        <p:spPr>
          <a:xfrm>
            <a:off x="8915400" y="3063240"/>
            <a:ext cx="2743200" cy="1463040"/>
          </a:xfrm>
          <a:prstGeom prst="roundRect">
            <a:avLst>
              <a:gd name="adj" fmla="val 8000"/>
            </a:avLst>
          </a:prstGeom>
          <a:solidFill>
            <a:srgbClr val="5B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15400" y="3154680"/>
            <a:ext cx="2743200" cy="548640"/>
          </a:xfrm>
          <a:prstGeom prst="rect">
            <a:avLst/>
          </a:prstGeom>
          <a:noFill/>
        </p:spPr>
        <p:txBody>
          <a:bodyPr wrap="square" anchor="t">
            <a:spAutoFit/>
          </a:bodyPr>
          <a:lstStyle/>
          <a:p>
            <a:pPr algn="ctr">
              <a:spcAft>
                <a:spcPts val="800"/>
              </a:spcAft>
            </a:pPr>
            <a:r>
              <a:rPr sz="2400" b="1">
                <a:solidFill>
                  <a:srgbClr val="FFFFFF"/>
                </a:solidFill>
                <a:latin typeface="Arial"/>
              </a:rPr>
              <a:t>Atmosphere</a:t>
            </a:r>
          </a:p>
        </p:txBody>
      </p:sp>
      <p:sp>
        <p:nvSpPr>
          <p:cNvPr id="18" name="TextBox 17"/>
          <p:cNvSpPr txBox="1"/>
          <p:nvPr/>
        </p:nvSpPr>
        <p:spPr>
          <a:xfrm>
            <a:off x="8915400" y="3749039"/>
            <a:ext cx="2743200" cy="640080"/>
          </a:xfrm>
          <a:prstGeom prst="rect">
            <a:avLst/>
          </a:prstGeom>
          <a:noFill/>
        </p:spPr>
        <p:txBody>
          <a:bodyPr wrap="square" anchor="t">
            <a:spAutoFit/>
          </a:bodyPr>
          <a:lstStyle/>
          <a:p>
            <a:pPr algn="ctr">
              <a:spcAft>
                <a:spcPts val="800"/>
              </a:spcAft>
            </a:pPr>
            <a:r>
              <a:rPr sz="1800" b="0">
                <a:solidFill>
                  <a:srgbClr val="FFFFFF"/>
                </a:solidFill>
                <a:latin typeface="Arial"/>
              </a:rPr>
              <a:t>layer of gases</a:t>
            </a:r>
          </a:p>
        </p:txBody>
      </p:sp>
      <p:sp>
        <p:nvSpPr>
          <p:cNvPr id="19" name="TextBox 18"/>
          <p:cNvSpPr txBox="1"/>
          <p:nvPr/>
        </p:nvSpPr>
        <p:spPr>
          <a:xfrm>
            <a:off x="6035040" y="4754880"/>
            <a:ext cx="5669280" cy="1463040"/>
          </a:xfrm>
          <a:prstGeom prst="rect">
            <a:avLst/>
          </a:prstGeom>
          <a:noFill/>
        </p:spPr>
        <p:txBody>
          <a:bodyPr wrap="square" anchor="t">
            <a:spAutoFit/>
          </a:bodyPr>
          <a:lstStyle/>
          <a:p>
            <a:pPr algn="l">
              <a:spcAft>
                <a:spcPts val="800"/>
              </a:spcAft>
            </a:pPr>
            <a:r>
              <a:rPr sz="2200" b="1">
                <a:solidFill>
                  <a:srgbClr val="1B3A4B"/>
                </a:solidFill>
                <a:latin typeface="Arial"/>
              </a:rPr>
              <a:t>Earth is the only planet in our solar system with all four systems. Only Earth has a biosphere!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7B4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What Is a System?</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Rounded Rectangle 4"/>
          <p:cNvSpPr/>
          <p:nvPr/>
        </p:nvSpPr>
        <p:spPr>
          <a:xfrm>
            <a:off x="457200" y="1371600"/>
            <a:ext cx="5760720" cy="2194560"/>
          </a:xfrm>
          <a:prstGeom prst="roundRect">
            <a:avLst>
              <a:gd name="adj" fmla="val 8000"/>
            </a:avLst>
          </a:prstGeom>
          <a:solidFill>
            <a:srgbClr val="FFFFFF"/>
          </a:solidFill>
          <a:ln w="25400">
            <a:solidFill>
              <a:srgbClr val="7B4B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760720" cy="548640"/>
          </a:xfrm>
          <a:prstGeom prst="roundRect">
            <a:avLst>
              <a:gd name="adj" fmla="val 8000"/>
            </a:avLst>
          </a:prstGeom>
          <a:solidFill>
            <a:srgbClr val="7B4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5760720" cy="548640"/>
          </a:xfrm>
          <a:prstGeom prst="rect">
            <a:avLst/>
          </a:prstGeom>
          <a:noFill/>
        </p:spPr>
        <p:txBody>
          <a:bodyPr wrap="square" anchor="ctr">
            <a:spAutoFit/>
          </a:bodyPr>
          <a:lstStyle/>
          <a:p>
            <a:pPr algn="ctr">
              <a:spcAft>
                <a:spcPts val="800"/>
              </a:spcAft>
            </a:pPr>
            <a:r>
              <a:rPr sz="2200" b="1">
                <a:solidFill>
                  <a:srgbClr val="FFFFFF"/>
                </a:solidFill>
                <a:latin typeface="Arial"/>
              </a:rPr>
              <a:t>A system is...</a:t>
            </a:r>
          </a:p>
        </p:txBody>
      </p:sp>
      <p:sp>
        <p:nvSpPr>
          <p:cNvPr id="8" name="TextBox 7"/>
          <p:cNvSpPr txBox="1"/>
          <p:nvPr/>
        </p:nvSpPr>
        <p:spPr>
          <a:xfrm>
            <a:off x="548640" y="2011680"/>
            <a:ext cx="5577840" cy="1463039"/>
          </a:xfrm>
          <a:prstGeom prst="rect">
            <a:avLst/>
          </a:prstGeom>
          <a:noFill/>
        </p:spPr>
        <p:txBody>
          <a:bodyPr wrap="square" anchor="t">
            <a:spAutoFit/>
          </a:bodyPr>
          <a:lstStyle/>
          <a:p>
            <a:pPr algn="l">
              <a:spcAft>
                <a:spcPts val="800"/>
              </a:spcAft>
            </a:pPr>
            <a:r>
              <a:rPr sz="2000" b="0">
                <a:solidFill>
                  <a:srgbClr val="1B3A4B"/>
                </a:solidFill>
                <a:latin typeface="Arial"/>
              </a:rPr>
              <a:t>A collection of parts that work together.</a:t>
            </a:r>
          </a:p>
          <a:p>
            <a:pPr algn="l">
              <a:spcAft>
                <a:spcPts val="800"/>
              </a:spcAft>
            </a:pPr>
            <a:r>
              <a:rPr sz="2000" b="0">
                <a:solidFill>
                  <a:srgbClr val="1B3A4B"/>
                </a:solidFill>
                <a:latin typeface="Arial"/>
              </a:rPr>
              <a:t>Different processes move Earth's materials within and between systems.</a:t>
            </a:r>
          </a:p>
        </p:txBody>
      </p:sp>
      <p:sp>
        <p:nvSpPr>
          <p:cNvPr id="9" name="Rounded Rectangle 8"/>
          <p:cNvSpPr/>
          <p:nvPr/>
        </p:nvSpPr>
        <p:spPr>
          <a:xfrm>
            <a:off x="457200" y="3749039"/>
            <a:ext cx="5760720" cy="2468880"/>
          </a:xfrm>
          <a:prstGeom prst="roundRect">
            <a:avLst>
              <a:gd name="adj" fmla="val 8000"/>
            </a:avLst>
          </a:prstGeom>
          <a:solidFill>
            <a:srgbClr val="FFFFFF"/>
          </a:solidFill>
          <a:ln w="25400">
            <a:solidFill>
              <a:srgbClr val="E539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3749039"/>
            <a:ext cx="5760720" cy="548640"/>
          </a:xfrm>
          <a:prstGeom prst="roundRect">
            <a:avLst>
              <a:gd name="adj" fmla="val 8000"/>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749039"/>
            <a:ext cx="5760720" cy="548640"/>
          </a:xfrm>
          <a:prstGeom prst="rect">
            <a:avLst/>
          </a:prstGeom>
          <a:noFill/>
        </p:spPr>
        <p:txBody>
          <a:bodyPr wrap="square" anchor="ctr">
            <a:spAutoFit/>
          </a:bodyPr>
          <a:lstStyle/>
          <a:p>
            <a:pPr algn="ctr">
              <a:spcAft>
                <a:spcPts val="800"/>
              </a:spcAft>
            </a:pPr>
            <a:r>
              <a:rPr sz="2200" b="1">
                <a:solidFill>
                  <a:srgbClr val="FFFFFF"/>
                </a:solidFill>
                <a:latin typeface="Arial"/>
              </a:rPr>
              <a:t>If a part is damaged...</a:t>
            </a:r>
          </a:p>
        </p:txBody>
      </p:sp>
      <p:sp>
        <p:nvSpPr>
          <p:cNvPr id="12" name="TextBox 11"/>
          <p:cNvSpPr txBox="1"/>
          <p:nvPr/>
        </p:nvSpPr>
        <p:spPr>
          <a:xfrm>
            <a:off x="548640" y="4389120"/>
            <a:ext cx="5577840" cy="1737360"/>
          </a:xfrm>
          <a:prstGeom prst="rect">
            <a:avLst/>
          </a:prstGeom>
          <a:noFill/>
        </p:spPr>
        <p:txBody>
          <a:bodyPr wrap="square" anchor="t">
            <a:spAutoFit/>
          </a:bodyPr>
          <a:lstStyle/>
          <a:p>
            <a:pPr algn="l">
              <a:spcAft>
                <a:spcPts val="800"/>
              </a:spcAft>
            </a:pPr>
            <a:r>
              <a:rPr sz="2000" b="0">
                <a:solidFill>
                  <a:srgbClr val="1B3A4B"/>
                </a:solidFill>
                <a:latin typeface="Arial"/>
              </a:rPr>
              <a:t>The system may not work as well, or not at all.</a:t>
            </a:r>
          </a:p>
          <a:p>
            <a:pPr algn="l">
              <a:spcAft>
                <a:spcPts val="800"/>
              </a:spcAft>
            </a:pPr>
            <a:r>
              <a:rPr sz="2000" b="0">
                <a:solidFill>
                  <a:srgbClr val="1B3A4B"/>
                </a:solidFill>
                <a:latin typeface="Arial"/>
              </a:rPr>
              <a:t>Other systems may be affected too.</a:t>
            </a:r>
          </a:p>
        </p:txBody>
      </p:sp>
      <p:sp>
        <p:nvSpPr>
          <p:cNvPr id="13" name="Rounded Rectangle 12"/>
          <p:cNvSpPr/>
          <p:nvPr/>
        </p:nvSpPr>
        <p:spPr>
          <a:xfrm>
            <a:off x="6601968" y="1481328"/>
            <a:ext cx="4901184" cy="3712464"/>
          </a:xfrm>
          <a:prstGeom prst="roundRect">
            <a:avLst>
              <a:gd name="adj" fmla="val 8000"/>
            </a:avLst>
          </a:prstGeom>
          <a:solidFill>
            <a:srgbClr val="7B4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oots.jpg"/>
          <p:cNvPicPr>
            <a:picLocks noChangeAspect="1"/>
          </p:cNvPicPr>
          <p:nvPr/>
        </p:nvPicPr>
        <p:blipFill>
          <a:blip r:embed="rId3"/>
          <a:stretch>
            <a:fillRect/>
          </a:stretch>
        </p:blipFill>
        <p:spPr>
          <a:xfrm>
            <a:off x="6675120" y="1554480"/>
            <a:ext cx="4754880" cy="3566160"/>
          </a:xfrm>
          <a:prstGeom prst="rect">
            <a:avLst/>
          </a:prstGeom>
        </p:spPr>
      </p:pic>
      <p:sp>
        <p:nvSpPr>
          <p:cNvPr id="15" name="TextBox 14"/>
          <p:cNvSpPr txBox="1"/>
          <p:nvPr/>
        </p:nvSpPr>
        <p:spPr>
          <a:xfrm>
            <a:off x="6583680" y="5303520"/>
            <a:ext cx="4937760" cy="914400"/>
          </a:xfrm>
          <a:prstGeom prst="rect">
            <a:avLst/>
          </a:prstGeom>
          <a:noFill/>
        </p:spPr>
        <p:txBody>
          <a:bodyPr wrap="square" anchor="t">
            <a:spAutoFit/>
          </a:bodyPr>
          <a:lstStyle/>
          <a:p>
            <a:pPr algn="l">
              <a:spcAft>
                <a:spcPts val="800"/>
              </a:spcAft>
            </a:pPr>
            <a:r>
              <a:rPr sz="1800" b="0">
                <a:solidFill>
                  <a:srgbClr val="1B3A4B"/>
                </a:solidFill>
                <a:latin typeface="Arial"/>
              </a:rPr>
              <a:t>Example: a tree's roots can break rock. Living and nonliving parts affect each other.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D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Geosphere: Earth's Rocky System</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Rounded Rectangle 4"/>
          <p:cNvSpPr/>
          <p:nvPr/>
        </p:nvSpPr>
        <p:spPr>
          <a:xfrm>
            <a:off x="566928" y="1389888"/>
            <a:ext cx="5449824" cy="4123944"/>
          </a:xfrm>
          <a:prstGeom prst="roundRect">
            <a:avLst>
              <a:gd name="adj" fmla="val 8000"/>
            </a:avLst>
          </a:prstGeom>
          <a:solidFill>
            <a:srgbClr val="8D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ocks.jpg"/>
          <p:cNvPicPr>
            <a:picLocks noChangeAspect="1"/>
          </p:cNvPicPr>
          <p:nvPr/>
        </p:nvPicPr>
        <p:blipFill>
          <a:blip r:embed="rId3"/>
          <a:stretch>
            <a:fillRect/>
          </a:stretch>
        </p:blipFill>
        <p:spPr>
          <a:xfrm>
            <a:off x="640080" y="1463040"/>
            <a:ext cx="5303520" cy="3977639"/>
          </a:xfrm>
          <a:prstGeom prst="rect">
            <a:avLst/>
          </a:prstGeom>
        </p:spPr>
      </p:pic>
      <p:sp>
        <p:nvSpPr>
          <p:cNvPr id="7" name="TextBox 6"/>
          <p:cNvSpPr txBox="1"/>
          <p:nvPr/>
        </p:nvSpPr>
        <p:spPr>
          <a:xfrm>
            <a:off x="6400800" y="1371600"/>
            <a:ext cx="5303520" cy="4572000"/>
          </a:xfrm>
          <a:prstGeom prst="rect">
            <a:avLst/>
          </a:prstGeom>
          <a:noFill/>
        </p:spPr>
        <p:txBody>
          <a:bodyPr wrap="square" anchor="t">
            <a:spAutoFit/>
          </a:bodyPr>
          <a:lstStyle/>
          <a:p>
            <a:pPr algn="l">
              <a:spcAft>
                <a:spcPts val="800"/>
              </a:spcAft>
            </a:pPr>
            <a:r>
              <a:rPr sz="2200" b="0">
                <a:solidFill>
                  <a:srgbClr val="1B3A4B"/>
                </a:solidFill>
                <a:latin typeface="Arial"/>
              </a:rPr>
              <a:t>• The geosphere is the Earth system with rocks, soil, and sediments.</a:t>
            </a:r>
          </a:p>
          <a:p>
            <a:pPr algn="l">
              <a:spcAft>
                <a:spcPts val="800"/>
              </a:spcAft>
            </a:pPr>
            <a:r>
              <a:rPr sz="2200" b="0">
                <a:solidFill>
                  <a:srgbClr val="1B3A4B"/>
                </a:solidFill>
                <a:latin typeface="Arial"/>
              </a:rPr>
              <a:t>• Rocks on the surface are easy to see.</a:t>
            </a:r>
          </a:p>
          <a:p>
            <a:pPr algn="l">
              <a:spcAft>
                <a:spcPts val="800"/>
              </a:spcAft>
            </a:pPr>
            <a:r>
              <a:rPr sz="2200" b="0">
                <a:solidFill>
                  <a:srgbClr val="1B3A4B"/>
                </a:solidFill>
                <a:latin typeface="Arial"/>
              </a:rPr>
              <a:t>• Rocks are also below the surface. Some are molten, or melted.</a:t>
            </a:r>
          </a:p>
          <a:p>
            <a:pPr algn="l">
              <a:spcAft>
                <a:spcPts val="800"/>
              </a:spcAft>
            </a:pPr>
            <a:r>
              <a:rPr sz="2200" b="0">
                <a:solidFill>
                  <a:srgbClr val="1B3A4B"/>
                </a:solidFill>
                <a:latin typeface="Arial"/>
              </a:rPr>
              <a:t>• Rocks are in all parts of Earth, from the surface to the very center.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D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Layers of the Geosphere</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graphicFrame>
        <p:nvGraphicFramePr>
          <p:cNvPr id="5" name="Chart 4"/>
          <p:cNvGraphicFramePr>
            <a:graphicFrameLocks noGrp="1"/>
          </p:cNvGraphicFramePr>
          <p:nvPr/>
        </p:nvGraphicFramePr>
        <p:xfrm>
          <a:off x="457200" y="1371600"/>
          <a:ext cx="6583680" cy="4846320"/>
        </p:xfrm>
        <a:graphic>
          <a:graphicData uri="http://schemas.openxmlformats.org/drawingml/2006/chart">
            <c:chart xmlns:c="http://schemas.openxmlformats.org/drawingml/2006/chart" r:id="rId3"/>
          </a:graphicData>
        </a:graphic>
      </p:graphicFrame>
      <p:sp>
        <p:nvSpPr>
          <p:cNvPr id="6" name="Rounded Rectangle 5"/>
          <p:cNvSpPr/>
          <p:nvPr/>
        </p:nvSpPr>
        <p:spPr>
          <a:xfrm>
            <a:off x="7424927" y="1389888"/>
            <a:ext cx="4352544" cy="3300984"/>
          </a:xfrm>
          <a:prstGeom prst="roundRect">
            <a:avLst>
              <a:gd name="adj" fmla="val 8000"/>
            </a:avLst>
          </a:prstGeom>
          <a:solidFill>
            <a:srgbClr val="8D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yers.jpg"/>
          <p:cNvPicPr>
            <a:picLocks noChangeAspect="1"/>
          </p:cNvPicPr>
          <p:nvPr/>
        </p:nvPicPr>
        <p:blipFill>
          <a:blip r:embed="rId4"/>
          <a:stretch>
            <a:fillRect/>
          </a:stretch>
        </p:blipFill>
        <p:spPr>
          <a:xfrm>
            <a:off x="7498079" y="1463040"/>
            <a:ext cx="4206240" cy="3154679"/>
          </a:xfrm>
          <a:prstGeom prst="rect">
            <a:avLst/>
          </a:prstGeom>
        </p:spPr>
      </p:pic>
      <p:sp>
        <p:nvSpPr>
          <p:cNvPr id="8" name="TextBox 7"/>
          <p:cNvSpPr txBox="1"/>
          <p:nvPr/>
        </p:nvSpPr>
        <p:spPr>
          <a:xfrm>
            <a:off x="7406640" y="4846320"/>
            <a:ext cx="4389120" cy="1463040"/>
          </a:xfrm>
          <a:prstGeom prst="rect">
            <a:avLst/>
          </a:prstGeom>
          <a:noFill/>
        </p:spPr>
        <p:txBody>
          <a:bodyPr wrap="square" anchor="t">
            <a:spAutoFit/>
          </a:bodyPr>
          <a:lstStyle/>
          <a:p>
            <a:pPr algn="l">
              <a:spcAft>
                <a:spcPts val="800"/>
              </a:spcAft>
            </a:pPr>
            <a:r>
              <a:rPr sz="1800" b="1">
                <a:solidFill>
                  <a:srgbClr val="1B3A4B"/>
                </a:solidFill>
                <a:latin typeface="Arial"/>
              </a:rPr>
              <a:t>The mantle is much thicker than the crust. The crust is only about 25 km thick on average.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D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The Lithosphere</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TextBox 4"/>
          <p:cNvSpPr txBox="1"/>
          <p:nvPr/>
        </p:nvSpPr>
        <p:spPr>
          <a:xfrm>
            <a:off x="457200" y="1371600"/>
            <a:ext cx="6035040" cy="4754880"/>
          </a:xfrm>
          <a:prstGeom prst="rect">
            <a:avLst/>
          </a:prstGeom>
          <a:noFill/>
        </p:spPr>
        <p:txBody>
          <a:bodyPr wrap="square" anchor="t">
            <a:spAutoFit/>
          </a:bodyPr>
          <a:lstStyle/>
          <a:p>
            <a:pPr algn="l">
              <a:spcAft>
                <a:spcPts val="800"/>
              </a:spcAft>
            </a:pPr>
            <a:r>
              <a:rPr sz="2200" b="0">
                <a:solidFill>
                  <a:srgbClr val="1B3A4B"/>
                </a:solidFill>
                <a:latin typeface="Arial"/>
              </a:rPr>
              <a:t>• The lithosphere is an important part of the geosphere.</a:t>
            </a:r>
          </a:p>
          <a:p>
            <a:pPr algn="l">
              <a:spcAft>
                <a:spcPts val="800"/>
              </a:spcAft>
            </a:pPr>
            <a:r>
              <a:rPr sz="2200" b="0">
                <a:solidFill>
                  <a:srgbClr val="1B3A4B"/>
                </a:solidFill>
                <a:latin typeface="Arial"/>
              </a:rPr>
              <a:t>• It is Earth's outer, rocky part: the crust and the rigid top of the mantle.</a:t>
            </a:r>
          </a:p>
          <a:p>
            <a:pPr algn="l">
              <a:spcAft>
                <a:spcPts val="800"/>
              </a:spcAft>
            </a:pPr>
            <a:r>
              <a:rPr sz="2200" b="0">
                <a:solidFill>
                  <a:srgbClr val="1B3A4B"/>
                </a:solidFill>
                <a:latin typeface="Arial"/>
              </a:rPr>
              <a:t>• It forms the land AND the ocean floor.</a:t>
            </a:r>
          </a:p>
          <a:p>
            <a:pPr algn="l">
              <a:spcAft>
                <a:spcPts val="800"/>
              </a:spcAft>
            </a:pPr>
            <a:r>
              <a:rPr sz="2200" b="0">
                <a:solidFill>
                  <a:srgbClr val="1B3A4B"/>
                </a:solidFill>
                <a:latin typeface="Arial"/>
              </a:rPr>
              <a:t>• It can be over 200 km (124 miles) thick under continents.</a:t>
            </a:r>
          </a:p>
          <a:p>
            <a:pPr algn="l">
              <a:spcAft>
                <a:spcPts val="800"/>
              </a:spcAft>
            </a:pPr>
            <a:r>
              <a:rPr sz="2200" b="0">
                <a:solidFill>
                  <a:srgbClr val="1B3A4B"/>
                </a:solidFill>
                <a:latin typeface="Arial"/>
              </a:rPr>
              <a:t>• Below it, mantle rock can move and flow.</a:t>
            </a:r>
          </a:p>
        </p:txBody>
      </p:sp>
      <p:sp>
        <p:nvSpPr>
          <p:cNvPr id="6" name="Rounded Rectangle 5"/>
          <p:cNvSpPr/>
          <p:nvPr/>
        </p:nvSpPr>
        <p:spPr>
          <a:xfrm>
            <a:off x="6784848" y="1481328"/>
            <a:ext cx="4901184" cy="3712464"/>
          </a:xfrm>
          <a:prstGeom prst="roundRect">
            <a:avLst>
              <a:gd name="adj" fmla="val 8000"/>
            </a:avLst>
          </a:prstGeom>
          <a:solidFill>
            <a:srgbClr val="8D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yers.jpg"/>
          <p:cNvPicPr>
            <a:picLocks noChangeAspect="1"/>
          </p:cNvPicPr>
          <p:nvPr/>
        </p:nvPicPr>
        <p:blipFill>
          <a:blip r:embed="rId3"/>
          <a:stretch>
            <a:fillRect/>
          </a:stretch>
        </p:blipFill>
        <p:spPr>
          <a:xfrm>
            <a:off x="6858000" y="1554480"/>
            <a:ext cx="4754880" cy="35661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The Biosphere: Earth's Living Things</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Rounded Rectangle 4"/>
          <p:cNvSpPr/>
          <p:nvPr/>
        </p:nvSpPr>
        <p:spPr>
          <a:xfrm>
            <a:off x="566928" y="1389888"/>
            <a:ext cx="5449824" cy="4123944"/>
          </a:xfrm>
          <a:prstGeom prst="roundRect">
            <a:avLst>
              <a:gd name="adj" fmla="val 8000"/>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ving.jpg"/>
          <p:cNvPicPr>
            <a:picLocks noChangeAspect="1"/>
          </p:cNvPicPr>
          <p:nvPr/>
        </p:nvPicPr>
        <p:blipFill>
          <a:blip r:embed="rId3"/>
          <a:stretch>
            <a:fillRect/>
          </a:stretch>
        </p:blipFill>
        <p:spPr>
          <a:xfrm>
            <a:off x="640080" y="1463040"/>
            <a:ext cx="5303520" cy="3977639"/>
          </a:xfrm>
          <a:prstGeom prst="rect">
            <a:avLst/>
          </a:prstGeom>
        </p:spPr>
      </p:pic>
      <p:sp>
        <p:nvSpPr>
          <p:cNvPr id="7" name="TextBox 6"/>
          <p:cNvSpPr txBox="1"/>
          <p:nvPr/>
        </p:nvSpPr>
        <p:spPr>
          <a:xfrm>
            <a:off x="6400800" y="1371600"/>
            <a:ext cx="5303520" cy="3108960"/>
          </a:xfrm>
          <a:prstGeom prst="rect">
            <a:avLst/>
          </a:prstGeom>
          <a:noFill/>
        </p:spPr>
        <p:txBody>
          <a:bodyPr wrap="square" anchor="t">
            <a:spAutoFit/>
          </a:bodyPr>
          <a:lstStyle/>
          <a:p>
            <a:pPr algn="l">
              <a:spcAft>
                <a:spcPts val="800"/>
              </a:spcAft>
            </a:pPr>
            <a:r>
              <a:rPr sz="2200" b="0">
                <a:solidFill>
                  <a:srgbClr val="1B3A4B"/>
                </a:solidFill>
                <a:latin typeface="Arial"/>
              </a:rPr>
              <a:t>• The biosphere is the Earth system that includes ALL living things.</a:t>
            </a:r>
          </a:p>
          <a:p>
            <a:pPr algn="l">
              <a:spcAft>
                <a:spcPts val="800"/>
              </a:spcAft>
            </a:pPr>
            <a:r>
              <a:rPr sz="2200" b="0">
                <a:solidFill>
                  <a:srgbClr val="1B3A4B"/>
                </a:solidFill>
                <a:latin typeface="Arial"/>
              </a:rPr>
              <a:t>• It includes living things in the air, in water, and on land.</a:t>
            </a:r>
          </a:p>
          <a:p>
            <a:pPr algn="l">
              <a:spcAft>
                <a:spcPts val="800"/>
              </a:spcAft>
            </a:pPr>
            <a:r>
              <a:rPr sz="2200" b="0">
                <a:solidFill>
                  <a:srgbClr val="1B3A4B"/>
                </a:solidFill>
                <a:latin typeface="Arial"/>
              </a:rPr>
              <a:t>• Humans are part of the biosphere too.</a:t>
            </a:r>
          </a:p>
        </p:txBody>
      </p:sp>
      <p:sp>
        <p:nvSpPr>
          <p:cNvPr id="8" name="Rounded Rectangle 7"/>
          <p:cNvSpPr/>
          <p:nvPr/>
        </p:nvSpPr>
        <p:spPr>
          <a:xfrm>
            <a:off x="6400800" y="4754880"/>
            <a:ext cx="1280160" cy="1097280"/>
          </a:xfrm>
          <a:prstGeom prst="roundRect">
            <a:avLst>
              <a:gd name="adj" fmla="val 8000"/>
            </a:avLst>
          </a:prstGeom>
          <a:solidFill>
            <a:srgbClr val="5B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4754880"/>
            <a:ext cx="1280160" cy="1097280"/>
          </a:xfrm>
          <a:prstGeom prst="rect">
            <a:avLst/>
          </a:prstGeom>
          <a:noFill/>
        </p:spPr>
        <p:txBody>
          <a:bodyPr wrap="square" anchor="ctr">
            <a:spAutoFit/>
          </a:bodyPr>
          <a:lstStyle/>
          <a:p>
            <a:pPr algn="ctr">
              <a:spcAft>
                <a:spcPts val="800"/>
              </a:spcAft>
            </a:pPr>
            <a:r>
              <a:rPr sz="2000" b="1">
                <a:solidFill>
                  <a:srgbClr val="FFFFFF"/>
                </a:solidFill>
                <a:latin typeface="Arial"/>
              </a:rPr>
              <a:t>In the air</a:t>
            </a:r>
          </a:p>
        </p:txBody>
      </p:sp>
      <p:sp>
        <p:nvSpPr>
          <p:cNvPr id="10" name="Rounded Rectangle 9"/>
          <p:cNvSpPr/>
          <p:nvPr/>
        </p:nvSpPr>
        <p:spPr>
          <a:xfrm>
            <a:off x="7772400" y="4754880"/>
            <a:ext cx="1280160" cy="1097280"/>
          </a:xfrm>
          <a:prstGeom prst="roundRect">
            <a:avLst>
              <a:gd name="adj" fmla="val 8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4754880"/>
            <a:ext cx="1280160" cy="1097280"/>
          </a:xfrm>
          <a:prstGeom prst="rect">
            <a:avLst/>
          </a:prstGeom>
          <a:noFill/>
        </p:spPr>
        <p:txBody>
          <a:bodyPr wrap="square" anchor="ctr">
            <a:spAutoFit/>
          </a:bodyPr>
          <a:lstStyle/>
          <a:p>
            <a:pPr algn="ctr">
              <a:spcAft>
                <a:spcPts val="800"/>
              </a:spcAft>
            </a:pPr>
            <a:r>
              <a:rPr sz="2000" b="1">
                <a:solidFill>
                  <a:srgbClr val="FFFFFF"/>
                </a:solidFill>
                <a:latin typeface="Arial"/>
              </a:rPr>
              <a:t>In water</a:t>
            </a:r>
          </a:p>
        </p:txBody>
      </p:sp>
      <p:sp>
        <p:nvSpPr>
          <p:cNvPr id="12" name="Rounded Rectangle 11"/>
          <p:cNvSpPr/>
          <p:nvPr/>
        </p:nvSpPr>
        <p:spPr>
          <a:xfrm>
            <a:off x="9144000" y="4754880"/>
            <a:ext cx="1280160" cy="1097280"/>
          </a:xfrm>
          <a:prstGeom prst="roundRect">
            <a:avLst>
              <a:gd name="adj" fmla="val 8000"/>
            </a:avLst>
          </a:prstGeom>
          <a:solidFill>
            <a:srgbClr val="8D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4754880"/>
            <a:ext cx="1280160" cy="1097280"/>
          </a:xfrm>
          <a:prstGeom prst="rect">
            <a:avLst/>
          </a:prstGeom>
          <a:noFill/>
        </p:spPr>
        <p:txBody>
          <a:bodyPr wrap="square" anchor="ctr">
            <a:spAutoFit/>
          </a:bodyPr>
          <a:lstStyle/>
          <a:p>
            <a:pPr algn="ctr">
              <a:spcAft>
                <a:spcPts val="800"/>
              </a:spcAft>
            </a:pPr>
            <a:r>
              <a:rPr sz="2000" b="1">
                <a:solidFill>
                  <a:srgbClr val="FFFFFF"/>
                </a:solidFill>
                <a:latin typeface="Arial"/>
              </a:rPr>
              <a:t>On land</a:t>
            </a:r>
          </a:p>
        </p:txBody>
      </p:sp>
      <p:sp>
        <p:nvSpPr>
          <p:cNvPr id="14" name="Rounded Rectangle 13"/>
          <p:cNvSpPr/>
          <p:nvPr/>
        </p:nvSpPr>
        <p:spPr>
          <a:xfrm>
            <a:off x="10515600" y="4754880"/>
            <a:ext cx="1280160" cy="109728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0" y="4754880"/>
            <a:ext cx="1280160" cy="1097280"/>
          </a:xfrm>
          <a:prstGeom prst="rect">
            <a:avLst/>
          </a:prstGeom>
          <a:noFill/>
        </p:spPr>
        <p:txBody>
          <a:bodyPr wrap="square" anchor="ctr">
            <a:spAutoFit/>
          </a:bodyPr>
          <a:lstStyle/>
          <a:p>
            <a:pPr algn="ctr">
              <a:spcAft>
                <a:spcPts val="800"/>
              </a:spcAft>
            </a:pPr>
            <a:r>
              <a:rPr sz="2000" b="1">
                <a:solidFill>
                  <a:srgbClr val="FFFFFF"/>
                </a:solidFill>
                <a:latin typeface="Arial"/>
              </a:rPr>
              <a:t>Humans too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Why So Many Kinds of Life?</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Rounded Rectangle 4"/>
          <p:cNvSpPr/>
          <p:nvPr/>
        </p:nvSpPr>
        <p:spPr>
          <a:xfrm>
            <a:off x="566928" y="1389888"/>
            <a:ext cx="5449824" cy="4123944"/>
          </a:xfrm>
          <a:prstGeom prst="roundRect">
            <a:avLst>
              <a:gd name="adj" fmla="val 8000"/>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on.jpg"/>
          <p:cNvPicPr>
            <a:picLocks noChangeAspect="1"/>
          </p:cNvPicPr>
          <p:nvPr/>
        </p:nvPicPr>
        <p:blipFill>
          <a:blip r:embed="rId3"/>
          <a:stretch>
            <a:fillRect/>
          </a:stretch>
        </p:blipFill>
        <p:spPr>
          <a:xfrm>
            <a:off x="640080" y="1463040"/>
            <a:ext cx="5303520" cy="3977639"/>
          </a:xfrm>
          <a:prstGeom prst="rect">
            <a:avLst/>
          </a:prstGeom>
        </p:spPr>
      </p:pic>
      <p:sp>
        <p:nvSpPr>
          <p:cNvPr id="7" name="TextBox 6"/>
          <p:cNvSpPr txBox="1"/>
          <p:nvPr/>
        </p:nvSpPr>
        <p:spPr>
          <a:xfrm>
            <a:off x="6400800" y="1371600"/>
            <a:ext cx="5303520" cy="1097280"/>
          </a:xfrm>
          <a:prstGeom prst="rect">
            <a:avLst/>
          </a:prstGeom>
          <a:noFill/>
        </p:spPr>
        <p:txBody>
          <a:bodyPr wrap="square" anchor="t">
            <a:spAutoFit/>
          </a:bodyPr>
          <a:lstStyle/>
          <a:p>
            <a:pPr algn="l">
              <a:spcAft>
                <a:spcPts val="800"/>
              </a:spcAft>
            </a:pPr>
            <a:r>
              <a:rPr sz="2600" b="1">
                <a:solidFill>
                  <a:srgbClr val="7B4BC9"/>
                </a:solidFill>
                <a:latin typeface="Arial"/>
              </a:rPr>
              <a:t>Cause and Effect</a:t>
            </a:r>
          </a:p>
        </p:txBody>
      </p:sp>
      <p:sp>
        <p:nvSpPr>
          <p:cNvPr id="8" name="Rounded Rectangle 7"/>
          <p:cNvSpPr/>
          <p:nvPr/>
        </p:nvSpPr>
        <p:spPr>
          <a:xfrm>
            <a:off x="6400800" y="2194560"/>
            <a:ext cx="5303520" cy="1371600"/>
          </a:xfrm>
          <a:prstGeom prst="roundRect">
            <a:avLst>
              <a:gd name="adj" fmla="val 8000"/>
            </a:avLst>
          </a:prstGeom>
          <a:solidFill>
            <a:srgbClr val="FFFFFF"/>
          </a:solidFill>
          <a:ln w="25400">
            <a:solidFill>
              <a:srgbClr val="7B4B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94560"/>
            <a:ext cx="5120640" cy="1371600"/>
          </a:xfrm>
          <a:prstGeom prst="rect">
            <a:avLst/>
          </a:prstGeom>
          <a:noFill/>
        </p:spPr>
        <p:txBody>
          <a:bodyPr wrap="square" anchor="ctr">
            <a:spAutoFit/>
          </a:bodyPr>
          <a:lstStyle/>
          <a:p>
            <a:pPr algn="l">
              <a:spcAft>
                <a:spcPts val="800"/>
              </a:spcAft>
            </a:pPr>
            <a:r>
              <a:rPr sz="2200" b="1">
                <a:solidFill>
                  <a:srgbClr val="1B3A4B"/>
                </a:solidFill>
                <a:latin typeface="Arial"/>
              </a:rPr>
              <a:t>CAUSE: The biosphere interacts with the other spheres.</a:t>
            </a:r>
          </a:p>
        </p:txBody>
      </p:sp>
      <p:sp>
        <p:nvSpPr>
          <p:cNvPr id="10" name="TextBox 9"/>
          <p:cNvSpPr txBox="1"/>
          <p:nvPr/>
        </p:nvSpPr>
        <p:spPr>
          <a:xfrm>
            <a:off x="8412480" y="3611880"/>
            <a:ext cx="1280160" cy="640080"/>
          </a:xfrm>
          <a:prstGeom prst="rect">
            <a:avLst/>
          </a:prstGeom>
          <a:noFill/>
        </p:spPr>
        <p:txBody>
          <a:bodyPr wrap="square" anchor="t">
            <a:spAutoFit/>
          </a:bodyPr>
          <a:lstStyle/>
          <a:p>
            <a:pPr algn="ctr">
              <a:spcAft>
                <a:spcPts val="800"/>
              </a:spcAft>
            </a:pPr>
            <a:r>
              <a:rPr sz="3000" b="1">
                <a:solidFill>
                  <a:srgbClr val="7B4BC9"/>
                </a:solidFill>
                <a:latin typeface="Arial"/>
              </a:rPr>
              <a:t>▼</a:t>
            </a:r>
          </a:p>
        </p:txBody>
      </p:sp>
      <p:sp>
        <p:nvSpPr>
          <p:cNvPr id="11" name="Rounded Rectangle 10"/>
          <p:cNvSpPr/>
          <p:nvPr/>
        </p:nvSpPr>
        <p:spPr>
          <a:xfrm>
            <a:off x="6400800" y="4297680"/>
            <a:ext cx="5303520" cy="1371600"/>
          </a:xfrm>
          <a:prstGeom prst="roundRect">
            <a:avLst>
              <a:gd name="adj" fmla="val 8000"/>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4297680"/>
            <a:ext cx="5120640" cy="1371600"/>
          </a:xfrm>
          <a:prstGeom prst="rect">
            <a:avLst/>
          </a:prstGeom>
          <a:noFill/>
        </p:spPr>
        <p:txBody>
          <a:bodyPr wrap="square" anchor="ctr">
            <a:spAutoFit/>
          </a:bodyPr>
          <a:lstStyle/>
          <a:p>
            <a:pPr algn="l">
              <a:spcAft>
                <a:spcPts val="800"/>
              </a:spcAft>
            </a:pPr>
            <a:r>
              <a:rPr sz="2200" b="1">
                <a:solidFill>
                  <a:srgbClr val="FFFFFF"/>
                </a:solidFill>
                <a:latin typeface="Arial"/>
              </a:rPr>
              <a:t>EFFECT: It supports millions of kinds of living things.</a:t>
            </a:r>
          </a:p>
        </p:txBody>
      </p:sp>
      <p:sp>
        <p:nvSpPr>
          <p:cNvPr id="13" name="TextBox 12"/>
          <p:cNvSpPr txBox="1"/>
          <p:nvPr/>
        </p:nvSpPr>
        <p:spPr>
          <a:xfrm>
            <a:off x="640080" y="5669280"/>
            <a:ext cx="5303520" cy="640080"/>
          </a:xfrm>
          <a:prstGeom prst="rect">
            <a:avLst/>
          </a:prstGeom>
          <a:noFill/>
        </p:spPr>
        <p:txBody>
          <a:bodyPr wrap="square" anchor="t">
            <a:spAutoFit/>
          </a:bodyPr>
          <a:lstStyle/>
          <a:p>
            <a:pPr algn="l">
              <a:spcAft>
                <a:spcPts val="800"/>
              </a:spcAft>
            </a:pPr>
            <a:r>
              <a:rPr sz="1800" b="0">
                <a:solidFill>
                  <a:srgbClr val="1B3A4B"/>
                </a:solidFill>
                <a:latin typeface="Arial"/>
              </a:rPr>
              <a:t>The mountain lion (biosphere) stands on a rock (geosphere).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D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Living Things Depend on Land and Soil</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Rounded Rectangle 4"/>
          <p:cNvSpPr/>
          <p:nvPr/>
        </p:nvSpPr>
        <p:spPr>
          <a:xfrm>
            <a:off x="566928" y="1389888"/>
            <a:ext cx="5449824" cy="4123944"/>
          </a:xfrm>
          <a:prstGeom prst="roundRect">
            <a:avLst>
              <a:gd name="adj" fmla="val 8000"/>
            </a:avLst>
          </a:prstGeom>
          <a:solidFill>
            <a:srgbClr val="8D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oil.jpg"/>
          <p:cNvPicPr>
            <a:picLocks noChangeAspect="1"/>
          </p:cNvPicPr>
          <p:nvPr/>
        </p:nvPicPr>
        <p:blipFill>
          <a:blip r:embed="rId3"/>
          <a:stretch>
            <a:fillRect/>
          </a:stretch>
        </p:blipFill>
        <p:spPr>
          <a:xfrm>
            <a:off x="640080" y="1463040"/>
            <a:ext cx="5303520" cy="3977639"/>
          </a:xfrm>
          <a:prstGeom prst="rect">
            <a:avLst/>
          </a:prstGeom>
        </p:spPr>
      </p:pic>
      <p:sp>
        <p:nvSpPr>
          <p:cNvPr id="7" name="Rounded Rectangle 6"/>
          <p:cNvSpPr/>
          <p:nvPr/>
        </p:nvSpPr>
        <p:spPr>
          <a:xfrm>
            <a:off x="6400800" y="1371600"/>
            <a:ext cx="5303520" cy="1554480"/>
          </a:xfrm>
          <a:prstGeom prst="roundRect">
            <a:avLst>
              <a:gd name="adj" fmla="val 8000"/>
            </a:avLst>
          </a:prstGeom>
          <a:solidFill>
            <a:srgbClr val="FFFFFF"/>
          </a:solidFill>
          <a:ln w="254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0" y="1371600"/>
            <a:ext cx="5303520" cy="548640"/>
          </a:xfrm>
          <a:prstGeom prst="roundRect">
            <a:avLst>
              <a:gd name="adj" fmla="val 8000"/>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371600"/>
            <a:ext cx="5303520" cy="548640"/>
          </a:xfrm>
          <a:prstGeom prst="rect">
            <a:avLst/>
          </a:prstGeom>
          <a:noFill/>
        </p:spPr>
        <p:txBody>
          <a:bodyPr wrap="square" anchor="ctr">
            <a:spAutoFit/>
          </a:bodyPr>
          <a:lstStyle/>
          <a:p>
            <a:pPr algn="ctr">
              <a:spcAft>
                <a:spcPts val="800"/>
              </a:spcAft>
            </a:pPr>
            <a:r>
              <a:rPr sz="2200" b="1">
                <a:solidFill>
                  <a:srgbClr val="FFFFFF"/>
                </a:solidFill>
                <a:latin typeface="Arial"/>
              </a:rPr>
              <a:t>Plants</a:t>
            </a:r>
          </a:p>
        </p:txBody>
      </p:sp>
      <p:sp>
        <p:nvSpPr>
          <p:cNvPr id="10" name="TextBox 9"/>
          <p:cNvSpPr txBox="1"/>
          <p:nvPr/>
        </p:nvSpPr>
        <p:spPr>
          <a:xfrm>
            <a:off x="6492240" y="2011680"/>
            <a:ext cx="5120640" cy="822959"/>
          </a:xfrm>
          <a:prstGeom prst="rect">
            <a:avLst/>
          </a:prstGeom>
          <a:noFill/>
        </p:spPr>
        <p:txBody>
          <a:bodyPr wrap="square" anchor="t">
            <a:spAutoFit/>
          </a:bodyPr>
          <a:lstStyle/>
          <a:p>
            <a:pPr algn="l">
              <a:spcAft>
                <a:spcPts val="800"/>
              </a:spcAft>
            </a:pPr>
            <a:r>
              <a:rPr sz="2000" b="0">
                <a:solidFill>
                  <a:srgbClr val="1B3A4B"/>
                </a:solidFill>
                <a:latin typeface="Arial"/>
              </a:rPr>
              <a:t>Roots hold plants and take in water and nutrients from soil.</a:t>
            </a:r>
          </a:p>
        </p:txBody>
      </p:sp>
      <p:sp>
        <p:nvSpPr>
          <p:cNvPr id="11" name="Rounded Rectangle 10"/>
          <p:cNvSpPr/>
          <p:nvPr/>
        </p:nvSpPr>
        <p:spPr>
          <a:xfrm>
            <a:off x="6400800" y="3108960"/>
            <a:ext cx="5303520" cy="1554480"/>
          </a:xfrm>
          <a:prstGeom prst="roundRect">
            <a:avLst>
              <a:gd name="adj" fmla="val 8000"/>
            </a:avLst>
          </a:prstGeom>
          <a:solidFill>
            <a:srgbClr val="FFFFFF"/>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3108960"/>
            <a:ext cx="5303520" cy="54864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108960"/>
            <a:ext cx="5303520" cy="548640"/>
          </a:xfrm>
          <a:prstGeom prst="rect">
            <a:avLst/>
          </a:prstGeom>
          <a:noFill/>
        </p:spPr>
        <p:txBody>
          <a:bodyPr wrap="square" anchor="ctr">
            <a:spAutoFit/>
          </a:bodyPr>
          <a:lstStyle/>
          <a:p>
            <a:pPr algn="ctr">
              <a:spcAft>
                <a:spcPts val="800"/>
              </a:spcAft>
            </a:pPr>
            <a:r>
              <a:rPr sz="2200" b="1">
                <a:solidFill>
                  <a:srgbClr val="FFFFFF"/>
                </a:solidFill>
                <a:latin typeface="Arial"/>
              </a:rPr>
              <a:t>Animals</a:t>
            </a:r>
          </a:p>
        </p:txBody>
      </p:sp>
      <p:sp>
        <p:nvSpPr>
          <p:cNvPr id="14" name="TextBox 13"/>
          <p:cNvSpPr txBox="1"/>
          <p:nvPr/>
        </p:nvSpPr>
        <p:spPr>
          <a:xfrm>
            <a:off x="6492240" y="3749039"/>
            <a:ext cx="5120640" cy="822959"/>
          </a:xfrm>
          <a:prstGeom prst="rect">
            <a:avLst/>
          </a:prstGeom>
          <a:noFill/>
        </p:spPr>
        <p:txBody>
          <a:bodyPr wrap="square" anchor="t">
            <a:spAutoFit/>
          </a:bodyPr>
          <a:lstStyle/>
          <a:p>
            <a:pPr algn="l">
              <a:spcAft>
                <a:spcPts val="800"/>
              </a:spcAft>
            </a:pPr>
            <a:r>
              <a:rPr sz="2000" b="0">
                <a:solidFill>
                  <a:srgbClr val="1B3A4B"/>
                </a:solidFill>
                <a:latin typeface="Arial"/>
              </a:rPr>
              <a:t>Live on land and eat plants that grow in soil.</a:t>
            </a:r>
          </a:p>
        </p:txBody>
      </p:sp>
      <p:sp>
        <p:nvSpPr>
          <p:cNvPr id="15" name="Rounded Rectangle 14"/>
          <p:cNvSpPr/>
          <p:nvPr/>
        </p:nvSpPr>
        <p:spPr>
          <a:xfrm>
            <a:off x="6400800" y="4846320"/>
            <a:ext cx="5303520" cy="1371600"/>
          </a:xfrm>
          <a:prstGeom prst="roundRect">
            <a:avLst>
              <a:gd name="adj" fmla="val 8000"/>
            </a:avLst>
          </a:prstGeom>
          <a:solidFill>
            <a:srgbClr val="FFFFFF"/>
          </a:solidFill>
          <a:ln w="25400">
            <a:solidFill>
              <a:srgbClr val="1E88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0" y="4846320"/>
            <a:ext cx="5303520" cy="548640"/>
          </a:xfrm>
          <a:prstGeom prst="roundRect">
            <a:avLst>
              <a:gd name="adj" fmla="val 8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846320"/>
            <a:ext cx="5303520" cy="548640"/>
          </a:xfrm>
          <a:prstGeom prst="rect">
            <a:avLst/>
          </a:prstGeom>
          <a:noFill/>
        </p:spPr>
        <p:txBody>
          <a:bodyPr wrap="square" anchor="ctr">
            <a:spAutoFit/>
          </a:bodyPr>
          <a:lstStyle/>
          <a:p>
            <a:pPr algn="ctr">
              <a:spcAft>
                <a:spcPts val="800"/>
              </a:spcAft>
            </a:pPr>
            <a:r>
              <a:rPr sz="2200" b="1">
                <a:solidFill>
                  <a:srgbClr val="FFFFFF"/>
                </a:solidFill>
                <a:latin typeface="Arial"/>
              </a:rPr>
              <a:t>People</a:t>
            </a:r>
          </a:p>
        </p:txBody>
      </p:sp>
      <p:sp>
        <p:nvSpPr>
          <p:cNvPr id="18" name="TextBox 17"/>
          <p:cNvSpPr txBox="1"/>
          <p:nvPr/>
        </p:nvSpPr>
        <p:spPr>
          <a:xfrm>
            <a:off x="6492240" y="5486400"/>
            <a:ext cx="5120640" cy="640080"/>
          </a:xfrm>
          <a:prstGeom prst="rect">
            <a:avLst/>
          </a:prstGeom>
          <a:noFill/>
        </p:spPr>
        <p:txBody>
          <a:bodyPr wrap="square" anchor="t">
            <a:spAutoFit/>
          </a:bodyPr>
          <a:lstStyle/>
          <a:p>
            <a:pPr algn="l">
              <a:spcAft>
                <a:spcPts val="800"/>
              </a:spcAft>
            </a:pPr>
            <a:r>
              <a:rPr sz="2000" b="0">
                <a:solidFill>
                  <a:srgbClr val="1B3A4B"/>
                </a:solidFill>
                <a:latin typeface="Arial"/>
              </a:rPr>
              <a:t>Grow food in soil; plowing helps.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7B4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Biosphere + Geosphere = Interaction!</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Rounded Rectangle 4"/>
          <p:cNvSpPr/>
          <p:nvPr/>
        </p:nvSpPr>
        <p:spPr>
          <a:xfrm>
            <a:off x="566928" y="1389888"/>
            <a:ext cx="5084064" cy="3849624"/>
          </a:xfrm>
          <a:prstGeom prst="roundRect">
            <a:avLst>
              <a:gd name="adj" fmla="val 8000"/>
            </a:avLst>
          </a:prstGeom>
          <a:solidFill>
            <a:srgbClr val="7B4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oots.jpg"/>
          <p:cNvPicPr>
            <a:picLocks noChangeAspect="1"/>
          </p:cNvPicPr>
          <p:nvPr/>
        </p:nvPicPr>
        <p:blipFill>
          <a:blip r:embed="rId3"/>
          <a:stretch>
            <a:fillRect/>
          </a:stretch>
        </p:blipFill>
        <p:spPr>
          <a:xfrm>
            <a:off x="640080" y="1463040"/>
            <a:ext cx="4937760" cy="3703320"/>
          </a:xfrm>
          <a:prstGeom prst="rect">
            <a:avLst/>
          </a:prstGeom>
        </p:spPr>
      </p:pic>
      <p:sp>
        <p:nvSpPr>
          <p:cNvPr id="7" name="Rounded Rectangle 6"/>
          <p:cNvSpPr/>
          <p:nvPr/>
        </p:nvSpPr>
        <p:spPr>
          <a:xfrm>
            <a:off x="5943600" y="1371600"/>
            <a:ext cx="5760720" cy="1554480"/>
          </a:xfrm>
          <a:prstGeom prst="roundRect">
            <a:avLst>
              <a:gd name="adj" fmla="val 8000"/>
            </a:avLst>
          </a:prstGeom>
          <a:solidFill>
            <a:srgbClr val="FFFFFF"/>
          </a:solidFill>
          <a:ln w="254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0" y="1371600"/>
            <a:ext cx="5760720" cy="548640"/>
          </a:xfrm>
          <a:prstGeom prst="roundRect">
            <a:avLst>
              <a:gd name="adj" fmla="val 8000"/>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0" y="1371600"/>
            <a:ext cx="5760720" cy="548640"/>
          </a:xfrm>
          <a:prstGeom prst="rect">
            <a:avLst/>
          </a:prstGeom>
          <a:noFill/>
        </p:spPr>
        <p:txBody>
          <a:bodyPr wrap="square" anchor="ctr">
            <a:spAutoFit/>
          </a:bodyPr>
          <a:lstStyle/>
          <a:p>
            <a:pPr algn="ctr">
              <a:spcAft>
                <a:spcPts val="800"/>
              </a:spcAft>
            </a:pPr>
            <a:r>
              <a:rPr sz="2200" b="1">
                <a:solidFill>
                  <a:srgbClr val="FFFFFF"/>
                </a:solidFill>
                <a:latin typeface="Arial"/>
              </a:rPr>
              <a:t>Biosphere affects geosphere</a:t>
            </a:r>
          </a:p>
        </p:txBody>
      </p:sp>
      <p:sp>
        <p:nvSpPr>
          <p:cNvPr id="10" name="TextBox 9"/>
          <p:cNvSpPr txBox="1"/>
          <p:nvPr/>
        </p:nvSpPr>
        <p:spPr>
          <a:xfrm>
            <a:off x="6035040" y="2011680"/>
            <a:ext cx="5577840" cy="822959"/>
          </a:xfrm>
          <a:prstGeom prst="rect">
            <a:avLst/>
          </a:prstGeom>
          <a:noFill/>
        </p:spPr>
        <p:txBody>
          <a:bodyPr wrap="square" anchor="t">
            <a:spAutoFit/>
          </a:bodyPr>
          <a:lstStyle/>
          <a:p>
            <a:pPr algn="l">
              <a:spcAft>
                <a:spcPts val="800"/>
              </a:spcAft>
            </a:pPr>
            <a:r>
              <a:rPr sz="1900" b="0">
                <a:solidFill>
                  <a:srgbClr val="1B3A4B"/>
                </a:solidFill>
                <a:latin typeface="Arial"/>
              </a:rPr>
              <a:t>Tree roots grow into rock cracks and can split the rock.</a:t>
            </a:r>
          </a:p>
        </p:txBody>
      </p:sp>
      <p:sp>
        <p:nvSpPr>
          <p:cNvPr id="11" name="Rounded Rectangle 10"/>
          <p:cNvSpPr/>
          <p:nvPr/>
        </p:nvSpPr>
        <p:spPr>
          <a:xfrm>
            <a:off x="5943600" y="3108960"/>
            <a:ext cx="5760720" cy="1554480"/>
          </a:xfrm>
          <a:prstGeom prst="roundRect">
            <a:avLst>
              <a:gd name="adj" fmla="val 8000"/>
            </a:avLst>
          </a:prstGeom>
          <a:solidFill>
            <a:srgbClr val="FFFFFF"/>
          </a:solidFill>
          <a:ln w="25400">
            <a:solidFill>
              <a:srgbClr val="8D5A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0" y="3108960"/>
            <a:ext cx="5760720" cy="548640"/>
          </a:xfrm>
          <a:prstGeom prst="roundRect">
            <a:avLst>
              <a:gd name="adj" fmla="val 8000"/>
            </a:avLst>
          </a:prstGeom>
          <a:solidFill>
            <a:srgbClr val="8D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0" y="3108960"/>
            <a:ext cx="5760720" cy="548640"/>
          </a:xfrm>
          <a:prstGeom prst="rect">
            <a:avLst/>
          </a:prstGeom>
          <a:noFill/>
        </p:spPr>
        <p:txBody>
          <a:bodyPr wrap="square" anchor="ctr">
            <a:spAutoFit/>
          </a:bodyPr>
          <a:lstStyle/>
          <a:p>
            <a:pPr algn="ctr">
              <a:spcAft>
                <a:spcPts val="800"/>
              </a:spcAft>
            </a:pPr>
            <a:r>
              <a:rPr sz="2200" b="1">
                <a:solidFill>
                  <a:srgbClr val="FFFFFF"/>
                </a:solidFill>
                <a:latin typeface="Arial"/>
              </a:rPr>
              <a:t>Geosphere supports biosphere</a:t>
            </a:r>
          </a:p>
        </p:txBody>
      </p:sp>
      <p:sp>
        <p:nvSpPr>
          <p:cNvPr id="14" name="TextBox 13"/>
          <p:cNvSpPr txBox="1"/>
          <p:nvPr/>
        </p:nvSpPr>
        <p:spPr>
          <a:xfrm>
            <a:off x="6035040" y="3749039"/>
            <a:ext cx="5577840" cy="822959"/>
          </a:xfrm>
          <a:prstGeom prst="rect">
            <a:avLst/>
          </a:prstGeom>
          <a:noFill/>
        </p:spPr>
        <p:txBody>
          <a:bodyPr wrap="square" anchor="t">
            <a:spAutoFit/>
          </a:bodyPr>
          <a:lstStyle/>
          <a:p>
            <a:pPr algn="l">
              <a:spcAft>
                <a:spcPts val="800"/>
              </a:spcAft>
            </a:pPr>
            <a:r>
              <a:rPr sz="1900" b="0">
                <a:solidFill>
                  <a:srgbClr val="1B3A4B"/>
                </a:solidFill>
                <a:latin typeface="Arial"/>
              </a:rPr>
              <a:t>Soil gives plants water, nutrients and a place to grow.</a:t>
            </a:r>
          </a:p>
        </p:txBody>
      </p:sp>
      <p:sp>
        <p:nvSpPr>
          <p:cNvPr id="15" name="Rounded Rectangle 14"/>
          <p:cNvSpPr/>
          <p:nvPr/>
        </p:nvSpPr>
        <p:spPr>
          <a:xfrm>
            <a:off x="5943600" y="4846320"/>
            <a:ext cx="5760720" cy="1371600"/>
          </a:xfrm>
          <a:prstGeom prst="roundRect">
            <a:avLst>
              <a:gd name="adj" fmla="val 8000"/>
            </a:avLst>
          </a:prstGeom>
          <a:solidFill>
            <a:srgbClr val="FFFFFF"/>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43600" y="4846320"/>
            <a:ext cx="5760720" cy="54864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0" y="4846320"/>
            <a:ext cx="5760720" cy="548640"/>
          </a:xfrm>
          <a:prstGeom prst="rect">
            <a:avLst/>
          </a:prstGeom>
          <a:noFill/>
        </p:spPr>
        <p:txBody>
          <a:bodyPr wrap="square" anchor="ctr">
            <a:spAutoFit/>
          </a:bodyPr>
          <a:lstStyle/>
          <a:p>
            <a:pPr algn="ctr">
              <a:spcAft>
                <a:spcPts val="800"/>
              </a:spcAft>
            </a:pPr>
            <a:r>
              <a:rPr sz="2200" b="1">
                <a:solidFill>
                  <a:srgbClr val="FFFFFF"/>
                </a:solidFill>
                <a:latin typeface="Arial"/>
              </a:rPr>
              <a:t>People change the land</a:t>
            </a:r>
          </a:p>
        </p:txBody>
      </p:sp>
      <p:sp>
        <p:nvSpPr>
          <p:cNvPr id="18" name="TextBox 17"/>
          <p:cNvSpPr txBox="1"/>
          <p:nvPr/>
        </p:nvSpPr>
        <p:spPr>
          <a:xfrm>
            <a:off x="6035040" y="5486400"/>
            <a:ext cx="5577840" cy="640080"/>
          </a:xfrm>
          <a:prstGeom prst="rect">
            <a:avLst/>
          </a:prstGeom>
          <a:noFill/>
        </p:spPr>
        <p:txBody>
          <a:bodyPr wrap="square" anchor="t">
            <a:spAutoFit/>
          </a:bodyPr>
          <a:lstStyle/>
          <a:p>
            <a:pPr algn="l">
              <a:spcAft>
                <a:spcPts val="800"/>
              </a:spcAft>
            </a:pPr>
            <a:r>
              <a:rPr sz="1900" b="0">
                <a:solidFill>
                  <a:srgbClr val="1B3A4B"/>
                </a:solidFill>
                <a:latin typeface="Arial"/>
              </a:rPr>
              <a:t>Plowing turns over soil so crops grow better.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Quest Check-In: Raining Acid</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Rounded Rectangle 4"/>
          <p:cNvSpPr/>
          <p:nvPr/>
        </p:nvSpPr>
        <p:spPr>
          <a:xfrm>
            <a:off x="566928" y="1389888"/>
            <a:ext cx="5449824" cy="4123944"/>
          </a:xfrm>
          <a:prstGeom prst="roundRect">
            <a:avLst>
              <a:gd name="adj" fmla="val 8000"/>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cid.jpg"/>
          <p:cNvPicPr>
            <a:picLocks noChangeAspect="1"/>
          </p:cNvPicPr>
          <p:nvPr/>
        </p:nvPicPr>
        <p:blipFill>
          <a:blip r:embed="rId3"/>
          <a:stretch>
            <a:fillRect/>
          </a:stretch>
        </p:blipFill>
        <p:spPr>
          <a:xfrm>
            <a:off x="640080" y="1463040"/>
            <a:ext cx="5303520" cy="3977639"/>
          </a:xfrm>
          <a:prstGeom prst="rect">
            <a:avLst/>
          </a:prstGeom>
        </p:spPr>
      </p:pic>
      <p:sp>
        <p:nvSpPr>
          <p:cNvPr id="7" name="TextBox 6"/>
          <p:cNvSpPr txBox="1"/>
          <p:nvPr/>
        </p:nvSpPr>
        <p:spPr>
          <a:xfrm>
            <a:off x="6400800" y="1371600"/>
            <a:ext cx="5303520" cy="3657600"/>
          </a:xfrm>
          <a:prstGeom prst="rect">
            <a:avLst/>
          </a:prstGeom>
          <a:noFill/>
        </p:spPr>
        <p:txBody>
          <a:bodyPr wrap="square" anchor="t">
            <a:spAutoFit/>
          </a:bodyPr>
          <a:lstStyle/>
          <a:p>
            <a:pPr algn="l">
              <a:spcAft>
                <a:spcPts val="800"/>
              </a:spcAft>
            </a:pPr>
            <a:r>
              <a:rPr sz="2000" b="0">
                <a:solidFill>
                  <a:srgbClr val="1B3A4B"/>
                </a:solidFill>
                <a:latin typeface="Arial"/>
              </a:rPr>
              <a:t>• Rain can pick up pollutants from the air.</a:t>
            </a:r>
          </a:p>
          <a:p>
            <a:pPr algn="l">
              <a:spcAft>
                <a:spcPts val="800"/>
              </a:spcAft>
            </a:pPr>
            <a:r>
              <a:rPr sz="2000" b="0">
                <a:solidFill>
                  <a:srgbClr val="1B3A4B"/>
                </a:solidFill>
                <a:latin typeface="Arial"/>
              </a:rPr>
              <a:t>• Very polluted rain is called acid rain.</a:t>
            </a:r>
          </a:p>
          <a:p>
            <a:pPr algn="l">
              <a:spcAft>
                <a:spcPts val="800"/>
              </a:spcAft>
            </a:pPr>
            <a:r>
              <a:rPr sz="2000" b="0">
                <a:solidFill>
                  <a:srgbClr val="1B3A4B"/>
                </a:solidFill>
                <a:latin typeface="Arial"/>
              </a:rPr>
              <a:t>• It can enter lakes and streams.</a:t>
            </a:r>
          </a:p>
          <a:p>
            <a:pPr algn="l">
              <a:spcAft>
                <a:spcPts val="800"/>
              </a:spcAft>
            </a:pPr>
            <a:r>
              <a:rPr sz="2000" b="0">
                <a:solidFill>
                  <a:srgbClr val="1B3A4B"/>
                </a:solidFill>
                <a:latin typeface="Arial"/>
              </a:rPr>
              <a:t>• It can strip minerals from soil.</a:t>
            </a:r>
          </a:p>
          <a:p>
            <a:pPr algn="l">
              <a:spcAft>
                <a:spcPts val="800"/>
              </a:spcAft>
            </a:pPr>
            <a:r>
              <a:rPr sz="2000" b="0">
                <a:solidFill>
                  <a:srgbClr val="1B3A4B"/>
                </a:solidFill>
                <a:latin typeface="Arial"/>
              </a:rPr>
              <a:t>• It can harm land and water organisms, and change gases in the atmosphere.</a:t>
            </a:r>
          </a:p>
        </p:txBody>
      </p:sp>
      <p:sp>
        <p:nvSpPr>
          <p:cNvPr id="8" name="Rounded Rectangle 7"/>
          <p:cNvSpPr/>
          <p:nvPr/>
        </p:nvSpPr>
        <p:spPr>
          <a:xfrm>
            <a:off x="6400800" y="5029200"/>
            <a:ext cx="5303520" cy="1188720"/>
          </a:xfrm>
          <a:prstGeom prst="roundRect">
            <a:avLst>
              <a:gd name="adj" fmla="val 8000"/>
            </a:avLst>
          </a:prstGeom>
          <a:solidFill>
            <a:srgbClr val="7B4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5029200"/>
            <a:ext cx="5120640" cy="1188720"/>
          </a:xfrm>
          <a:prstGeom prst="rect">
            <a:avLst/>
          </a:prstGeom>
          <a:noFill/>
        </p:spPr>
        <p:txBody>
          <a:bodyPr wrap="square" anchor="ctr">
            <a:spAutoFit/>
          </a:bodyPr>
          <a:lstStyle/>
          <a:p>
            <a:pPr algn="ctr">
              <a:spcAft>
                <a:spcPts val="800"/>
              </a:spcAft>
            </a:pPr>
            <a:r>
              <a:rPr sz="2000" b="1">
                <a:solidFill>
                  <a:srgbClr val="FFFFFF"/>
                </a:solidFill>
                <a:latin typeface="Arial"/>
              </a:rPr>
              <a:t>How might acid rain's effect on soil affect crops and plants?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Model It!</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Rounded Rectangle 4"/>
          <p:cNvSpPr/>
          <p:nvPr/>
        </p:nvSpPr>
        <p:spPr>
          <a:xfrm>
            <a:off x="384048" y="1389888"/>
            <a:ext cx="5449824" cy="4123944"/>
          </a:xfrm>
          <a:prstGeom prst="roundRect">
            <a:avLst>
              <a:gd name="adj" fmla="val 8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ab.jpg"/>
          <p:cNvPicPr>
            <a:picLocks noChangeAspect="1"/>
          </p:cNvPicPr>
          <p:nvPr/>
        </p:nvPicPr>
        <p:blipFill>
          <a:blip r:embed="rId3"/>
          <a:stretch>
            <a:fillRect/>
          </a:stretch>
        </p:blipFill>
        <p:spPr>
          <a:xfrm>
            <a:off x="457200" y="1463040"/>
            <a:ext cx="5303520" cy="3977639"/>
          </a:xfrm>
          <a:prstGeom prst="rect">
            <a:avLst/>
          </a:prstGeom>
        </p:spPr>
      </p:pic>
      <p:sp>
        <p:nvSpPr>
          <p:cNvPr id="7" name="Rounded Rectangle 6"/>
          <p:cNvSpPr/>
          <p:nvPr/>
        </p:nvSpPr>
        <p:spPr>
          <a:xfrm>
            <a:off x="6236208" y="1389888"/>
            <a:ext cx="5449824" cy="4123944"/>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owl.jpg"/>
          <p:cNvPicPr>
            <a:picLocks noChangeAspect="1"/>
          </p:cNvPicPr>
          <p:nvPr/>
        </p:nvPicPr>
        <p:blipFill>
          <a:blip r:embed="rId4"/>
          <a:stretch>
            <a:fillRect/>
          </a:stretch>
        </p:blipFill>
        <p:spPr>
          <a:xfrm>
            <a:off x="6309360" y="1463040"/>
            <a:ext cx="5303520" cy="3977639"/>
          </a:xfrm>
          <a:prstGeom prst="rect">
            <a:avLst/>
          </a:prstGeom>
        </p:spPr>
      </p:pic>
      <p:sp>
        <p:nvSpPr>
          <p:cNvPr id="9" name="TextBox 8"/>
          <p:cNvSpPr txBox="1"/>
          <p:nvPr/>
        </p:nvSpPr>
        <p:spPr>
          <a:xfrm>
            <a:off x="457200" y="5577840"/>
            <a:ext cx="5303520" cy="822960"/>
          </a:xfrm>
          <a:prstGeom prst="rect">
            <a:avLst/>
          </a:prstGeom>
          <a:noFill/>
        </p:spPr>
        <p:txBody>
          <a:bodyPr wrap="square" anchor="t">
            <a:spAutoFit/>
          </a:bodyPr>
          <a:lstStyle/>
          <a:p>
            <a:pPr algn="l">
              <a:spcAft>
                <a:spcPts val="800"/>
              </a:spcAft>
            </a:pPr>
            <a:r>
              <a:rPr sz="2000" b="1">
                <a:solidFill>
                  <a:srgbClr val="1B3A4B"/>
                </a:solidFill>
                <a:latin typeface="Arial"/>
              </a:rPr>
              <a:t>Lab: How does water move through soil?</a:t>
            </a:r>
          </a:p>
        </p:txBody>
      </p:sp>
      <p:sp>
        <p:nvSpPr>
          <p:cNvPr id="10" name="TextBox 9"/>
          <p:cNvSpPr txBox="1"/>
          <p:nvPr/>
        </p:nvSpPr>
        <p:spPr>
          <a:xfrm>
            <a:off x="6309360" y="5577840"/>
            <a:ext cx="5303520" cy="822960"/>
          </a:xfrm>
          <a:prstGeom prst="rect">
            <a:avLst/>
          </a:prstGeom>
          <a:noFill/>
        </p:spPr>
        <p:txBody>
          <a:bodyPr wrap="square" anchor="t">
            <a:spAutoFit/>
          </a:bodyPr>
          <a:lstStyle/>
          <a:p>
            <a:pPr algn="l">
              <a:spcAft>
                <a:spcPts val="800"/>
              </a:spcAft>
            </a:pPr>
            <a:r>
              <a:rPr sz="2000" b="1">
                <a:solidFill>
                  <a:srgbClr val="1B3A4B"/>
                </a:solidFill>
                <a:latin typeface="Arial"/>
              </a:rPr>
              <a:t>Model Earth's layers in a mixing bowl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7B4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Check Your Understanding</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Rounded Rectangle 4"/>
          <p:cNvSpPr/>
          <p:nvPr/>
        </p:nvSpPr>
        <p:spPr>
          <a:xfrm>
            <a:off x="731520" y="1371600"/>
            <a:ext cx="10698480" cy="868680"/>
          </a:xfrm>
          <a:prstGeom prst="roundRect">
            <a:avLst>
              <a:gd name="adj" fmla="val 8000"/>
            </a:avLst>
          </a:prstGeom>
          <a:solidFill>
            <a:srgbClr val="FFFFFF"/>
          </a:solidFill>
          <a:ln w="254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32720" cy="868680"/>
          </a:xfrm>
          <a:prstGeom prst="rect">
            <a:avLst/>
          </a:prstGeom>
          <a:noFill/>
        </p:spPr>
        <p:txBody>
          <a:bodyPr wrap="square" anchor="ctr">
            <a:spAutoFit/>
          </a:bodyPr>
          <a:lstStyle/>
          <a:p>
            <a:pPr algn="l">
              <a:spcAft>
                <a:spcPts val="800"/>
              </a:spcAft>
            </a:pPr>
            <a:r>
              <a:rPr sz="2400" b="1">
                <a:solidFill>
                  <a:srgbClr val="1B3A4B"/>
                </a:solidFill>
                <a:latin typeface="Arial"/>
              </a:rPr>
              <a:t>1. What makes up the biosphere?</a:t>
            </a:r>
          </a:p>
        </p:txBody>
      </p:sp>
      <p:sp>
        <p:nvSpPr>
          <p:cNvPr id="7" name="Rounded Rectangle 6"/>
          <p:cNvSpPr/>
          <p:nvPr/>
        </p:nvSpPr>
        <p:spPr>
          <a:xfrm>
            <a:off x="731520" y="2331720"/>
            <a:ext cx="10698480" cy="868680"/>
          </a:xfrm>
          <a:prstGeom prst="roundRect">
            <a:avLst>
              <a:gd name="adj" fmla="val 8000"/>
            </a:avLst>
          </a:prstGeom>
          <a:solidFill>
            <a:srgbClr val="FFFFFF"/>
          </a:solidFill>
          <a:ln w="25400">
            <a:solidFill>
              <a:srgbClr val="1E88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31720"/>
            <a:ext cx="10332720" cy="868680"/>
          </a:xfrm>
          <a:prstGeom prst="rect">
            <a:avLst/>
          </a:prstGeom>
          <a:noFill/>
        </p:spPr>
        <p:txBody>
          <a:bodyPr wrap="square" anchor="ctr">
            <a:spAutoFit/>
          </a:bodyPr>
          <a:lstStyle/>
          <a:p>
            <a:pPr algn="l">
              <a:spcAft>
                <a:spcPts val="800"/>
              </a:spcAft>
            </a:pPr>
            <a:r>
              <a:rPr sz="2400" b="1">
                <a:solidFill>
                  <a:srgbClr val="1B3A4B"/>
                </a:solidFill>
                <a:latin typeface="Arial"/>
              </a:rPr>
              <a:t>2. Describe the lithosphere. How is it related to the geosphere?</a:t>
            </a:r>
          </a:p>
        </p:txBody>
      </p:sp>
      <p:sp>
        <p:nvSpPr>
          <p:cNvPr id="9" name="Rounded Rectangle 8"/>
          <p:cNvSpPr/>
          <p:nvPr/>
        </p:nvSpPr>
        <p:spPr>
          <a:xfrm>
            <a:off x="731520" y="3291840"/>
            <a:ext cx="10698480" cy="868680"/>
          </a:xfrm>
          <a:prstGeom prst="roundRect">
            <a:avLst>
              <a:gd name="adj" fmla="val 8000"/>
            </a:avLst>
          </a:prstGeom>
          <a:solidFill>
            <a:srgbClr val="FFFFFF"/>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291840"/>
            <a:ext cx="10332720" cy="868680"/>
          </a:xfrm>
          <a:prstGeom prst="rect">
            <a:avLst/>
          </a:prstGeom>
          <a:noFill/>
        </p:spPr>
        <p:txBody>
          <a:bodyPr wrap="square" anchor="ctr">
            <a:spAutoFit/>
          </a:bodyPr>
          <a:lstStyle/>
          <a:p>
            <a:pPr algn="l">
              <a:spcAft>
                <a:spcPts val="800"/>
              </a:spcAft>
            </a:pPr>
            <a:r>
              <a:rPr sz="2400" b="1">
                <a:solidFill>
                  <a:srgbClr val="1B3A4B"/>
                </a:solidFill>
                <a:latin typeface="Arial"/>
              </a:rPr>
              <a:t>3. How do living things depend on soil?</a:t>
            </a:r>
          </a:p>
        </p:txBody>
      </p:sp>
      <p:sp>
        <p:nvSpPr>
          <p:cNvPr id="11" name="Rounded Rectangle 10"/>
          <p:cNvSpPr/>
          <p:nvPr/>
        </p:nvSpPr>
        <p:spPr>
          <a:xfrm>
            <a:off x="731520" y="4251960"/>
            <a:ext cx="10698480" cy="868680"/>
          </a:xfrm>
          <a:prstGeom prst="roundRect">
            <a:avLst>
              <a:gd name="adj" fmla="val 8000"/>
            </a:avLst>
          </a:prstGeom>
          <a:solidFill>
            <a:srgbClr val="FFFFFF"/>
          </a:solidFill>
          <a:ln w="25400">
            <a:solidFill>
              <a:srgbClr val="8D5A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51960"/>
            <a:ext cx="10332720" cy="868680"/>
          </a:xfrm>
          <a:prstGeom prst="rect">
            <a:avLst/>
          </a:prstGeom>
          <a:noFill/>
        </p:spPr>
        <p:txBody>
          <a:bodyPr wrap="square" anchor="ctr">
            <a:spAutoFit/>
          </a:bodyPr>
          <a:lstStyle/>
          <a:p>
            <a:pPr algn="l">
              <a:spcAft>
                <a:spcPts val="800"/>
              </a:spcAft>
            </a:pPr>
            <a:r>
              <a:rPr sz="2400" b="1">
                <a:solidFill>
                  <a:srgbClr val="1B3A4B"/>
                </a:solidFill>
                <a:latin typeface="Arial"/>
              </a:rPr>
              <a:t>4. Give one way the biosphere and geosphere interact.</a:t>
            </a:r>
          </a:p>
        </p:txBody>
      </p:sp>
      <p:sp>
        <p:nvSpPr>
          <p:cNvPr id="13" name="Rounded Rectangle 12"/>
          <p:cNvSpPr/>
          <p:nvPr/>
        </p:nvSpPr>
        <p:spPr>
          <a:xfrm>
            <a:off x="731520" y="5212080"/>
            <a:ext cx="10698480" cy="868680"/>
          </a:xfrm>
          <a:prstGeom prst="roundRect">
            <a:avLst>
              <a:gd name="adj" fmla="val 8000"/>
            </a:avLst>
          </a:prstGeom>
          <a:solidFill>
            <a:srgbClr val="FFFFFF"/>
          </a:solidFill>
          <a:ln w="25400">
            <a:solidFill>
              <a:srgbClr val="E539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212080"/>
            <a:ext cx="10332720" cy="868680"/>
          </a:xfrm>
          <a:prstGeom prst="rect">
            <a:avLst/>
          </a:prstGeom>
          <a:noFill/>
        </p:spPr>
        <p:txBody>
          <a:bodyPr wrap="square" anchor="ctr">
            <a:spAutoFit/>
          </a:bodyPr>
          <a:lstStyle/>
          <a:p>
            <a:pPr algn="l">
              <a:spcAft>
                <a:spcPts val="800"/>
              </a:spcAft>
            </a:pPr>
            <a:r>
              <a:rPr sz="2400" b="1">
                <a:solidFill>
                  <a:srgbClr val="1B3A4B"/>
                </a:solidFill>
                <a:latin typeface="Arial"/>
              </a:rPr>
              <a:t>5. Cause and effect: what can acid rain do to soil?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822960"/>
          </a:xfrm>
          <a:prstGeom prst="rect">
            <a:avLst/>
          </a:prstGeom>
          <a:noFill/>
        </p:spPr>
        <p:txBody>
          <a:bodyPr wrap="square" anchor="ctr">
            <a:spAutoFit/>
          </a:bodyPr>
          <a:lstStyle/>
          <a:p>
            <a:pPr algn="l">
              <a:spcAft>
                <a:spcPts val="800"/>
              </a:spcAft>
            </a:pPr>
            <a:r>
              <a:rPr sz="3400" b="1">
                <a:solidFill>
                  <a:srgbClr val="FFFFFF"/>
                </a:solidFill>
                <a:latin typeface="Arial"/>
              </a:rPr>
              <a:t>Exit Ticket and Recap</a:t>
            </a:r>
          </a:p>
        </p:txBody>
      </p:sp>
      <p:sp>
        <p:nvSpPr>
          <p:cNvPr id="4" name="TextBox 3"/>
          <p:cNvSpPr txBox="1"/>
          <p:nvPr/>
        </p:nvSpPr>
        <p:spPr>
          <a:xfrm>
            <a:off x="365760" y="6446520"/>
            <a:ext cx="8229600" cy="320040"/>
          </a:xfrm>
          <a:prstGeom prst="rect">
            <a:avLst/>
          </a:prstGeom>
          <a:noFill/>
        </p:spPr>
        <p:txBody>
          <a:bodyPr wrap="square" anchor="t">
            <a:spAutoFit/>
          </a:bodyPr>
          <a:lstStyle/>
          <a:p>
            <a:pPr algn="l">
              <a:spcAft>
                <a:spcPts val="800"/>
              </a:spcAft>
            </a:pPr>
            <a:r>
              <a:rPr sz="1100" b="0">
                <a:solidFill>
                  <a:srgbClr val="666666"/>
                </a:solidFill>
                <a:latin typeface="Arial"/>
              </a:rPr>
              <a:t>Grade 5 Science | Earth's Systems | Lesson 1: Geosphere and Biosphere</a:t>
            </a:r>
          </a:p>
        </p:txBody>
      </p:sp>
      <p:sp>
        <p:nvSpPr>
          <p:cNvPr id="5" name="Rounded Rectangle 4"/>
          <p:cNvSpPr/>
          <p:nvPr/>
        </p:nvSpPr>
        <p:spPr>
          <a:xfrm>
            <a:off x="457200" y="1371600"/>
            <a:ext cx="5486400" cy="2377440"/>
          </a:xfrm>
          <a:prstGeom prst="roundRect">
            <a:avLst>
              <a:gd name="adj" fmla="val 8000"/>
            </a:avLst>
          </a:prstGeom>
          <a:solidFill>
            <a:srgbClr val="FFFFFF"/>
          </a:solidFill>
          <a:ln w="254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5486400" cy="548640"/>
          </a:xfrm>
          <a:prstGeom prst="roundRect">
            <a:avLst>
              <a:gd name="adj" fmla="val 8000"/>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5486400" cy="548640"/>
          </a:xfrm>
          <a:prstGeom prst="rect">
            <a:avLst/>
          </a:prstGeom>
          <a:noFill/>
        </p:spPr>
        <p:txBody>
          <a:bodyPr wrap="square" anchor="ctr">
            <a:spAutoFit/>
          </a:bodyPr>
          <a:lstStyle/>
          <a:p>
            <a:pPr algn="ctr">
              <a:spcAft>
                <a:spcPts val="800"/>
              </a:spcAft>
            </a:pPr>
            <a:r>
              <a:rPr sz="2200" b="1">
                <a:solidFill>
                  <a:srgbClr val="FFFFFF"/>
                </a:solidFill>
                <a:latin typeface="Arial"/>
              </a:rPr>
              <a:t>Remember</a:t>
            </a:r>
          </a:p>
        </p:txBody>
      </p:sp>
      <p:sp>
        <p:nvSpPr>
          <p:cNvPr id="8" name="TextBox 7"/>
          <p:cNvSpPr txBox="1"/>
          <p:nvPr/>
        </p:nvSpPr>
        <p:spPr>
          <a:xfrm>
            <a:off x="548640" y="2011680"/>
            <a:ext cx="5303520" cy="1645920"/>
          </a:xfrm>
          <a:prstGeom prst="rect">
            <a:avLst/>
          </a:prstGeom>
          <a:noFill/>
        </p:spPr>
        <p:txBody>
          <a:bodyPr wrap="square" anchor="t">
            <a:spAutoFit/>
          </a:bodyPr>
          <a:lstStyle/>
          <a:p>
            <a:pPr algn="l">
              <a:spcAft>
                <a:spcPts val="800"/>
              </a:spcAft>
            </a:pPr>
            <a:r>
              <a:rPr sz="2000" b="0">
                <a:solidFill>
                  <a:srgbClr val="1B3A4B"/>
                </a:solidFill>
                <a:latin typeface="Arial"/>
              </a:rPr>
              <a:t>The biosphere = all living things.</a:t>
            </a:r>
          </a:p>
          <a:p>
            <a:pPr algn="l">
              <a:spcAft>
                <a:spcPts val="800"/>
              </a:spcAft>
            </a:pPr>
            <a:r>
              <a:rPr sz="2000" b="0">
                <a:solidFill>
                  <a:srgbClr val="1B3A4B"/>
                </a:solidFill>
                <a:latin typeface="Arial"/>
              </a:rPr>
              <a:t>The geosphere = rocks, soil, sediments.</a:t>
            </a:r>
          </a:p>
          <a:p>
            <a:pPr algn="l">
              <a:spcAft>
                <a:spcPts val="800"/>
              </a:spcAft>
            </a:pPr>
            <a:r>
              <a:rPr sz="2000" b="0">
                <a:solidFill>
                  <a:srgbClr val="1B3A4B"/>
                </a:solidFill>
                <a:latin typeface="Arial"/>
              </a:rPr>
              <a:t>Living things depend on land and soil.</a:t>
            </a:r>
          </a:p>
        </p:txBody>
      </p:sp>
      <p:sp>
        <p:nvSpPr>
          <p:cNvPr id="9" name="Rounded Rectangle 8"/>
          <p:cNvSpPr/>
          <p:nvPr/>
        </p:nvSpPr>
        <p:spPr>
          <a:xfrm>
            <a:off x="457200" y="3931920"/>
            <a:ext cx="5486400" cy="2286000"/>
          </a:xfrm>
          <a:prstGeom prst="roundRect">
            <a:avLst>
              <a:gd name="adj" fmla="val 8000"/>
            </a:avLst>
          </a:prstGeom>
          <a:solidFill>
            <a:srgbClr val="FFFFFF"/>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3931920"/>
            <a:ext cx="5486400" cy="54864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931920"/>
            <a:ext cx="5486400" cy="548640"/>
          </a:xfrm>
          <a:prstGeom prst="rect">
            <a:avLst/>
          </a:prstGeom>
          <a:noFill/>
        </p:spPr>
        <p:txBody>
          <a:bodyPr wrap="square" anchor="ctr">
            <a:spAutoFit/>
          </a:bodyPr>
          <a:lstStyle/>
          <a:p>
            <a:pPr algn="ctr">
              <a:spcAft>
                <a:spcPts val="800"/>
              </a:spcAft>
            </a:pPr>
            <a:r>
              <a:rPr sz="2200" b="1">
                <a:solidFill>
                  <a:srgbClr val="FFFFFF"/>
                </a:solidFill>
                <a:latin typeface="Arial"/>
              </a:rPr>
              <a:t>Exit Ticket</a:t>
            </a:r>
          </a:p>
        </p:txBody>
      </p:sp>
      <p:sp>
        <p:nvSpPr>
          <p:cNvPr id="12" name="TextBox 11"/>
          <p:cNvSpPr txBox="1"/>
          <p:nvPr/>
        </p:nvSpPr>
        <p:spPr>
          <a:xfrm>
            <a:off x="548640" y="4572000"/>
            <a:ext cx="5303520" cy="1554480"/>
          </a:xfrm>
          <a:prstGeom prst="rect">
            <a:avLst/>
          </a:prstGeom>
          <a:noFill/>
        </p:spPr>
        <p:txBody>
          <a:bodyPr wrap="square" anchor="t">
            <a:spAutoFit/>
          </a:bodyPr>
          <a:lstStyle/>
          <a:p>
            <a:pPr algn="l">
              <a:spcAft>
                <a:spcPts val="800"/>
              </a:spcAft>
            </a:pPr>
            <a:r>
              <a:rPr sz="2000" b="0">
                <a:solidFill>
                  <a:srgbClr val="1B3A4B"/>
                </a:solidFill>
                <a:latin typeface="Arial"/>
              </a:rPr>
              <a:t>Write one fact about the biosphere and one way it interacts with the geosphere.</a:t>
            </a:r>
          </a:p>
        </p:txBody>
      </p:sp>
      <p:sp>
        <p:nvSpPr>
          <p:cNvPr id="13" name="Rounded Rectangle 12"/>
          <p:cNvSpPr/>
          <p:nvPr/>
        </p:nvSpPr>
        <p:spPr>
          <a:xfrm>
            <a:off x="6419088" y="1481328"/>
            <a:ext cx="5175504" cy="3918204"/>
          </a:xfrm>
          <a:prstGeom prst="roundRect">
            <a:avLst>
              <a:gd name="adj" fmla="val 8000"/>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pheres.jpg"/>
          <p:cNvPicPr>
            <a:picLocks noChangeAspect="1"/>
          </p:cNvPicPr>
          <p:nvPr/>
        </p:nvPicPr>
        <p:blipFill>
          <a:blip r:embed="rId3"/>
          <a:stretch>
            <a:fillRect/>
          </a:stretch>
        </p:blipFill>
        <p:spPr>
          <a:xfrm>
            <a:off x="6492240" y="1554480"/>
            <a:ext cx="5029200" cy="3771900"/>
          </a:xfrm>
          <a:prstGeom prst="rect">
            <a:avLst/>
          </a:prstGeom>
        </p:spPr>
      </p:pic>
      <p:sp>
        <p:nvSpPr>
          <p:cNvPr id="15" name="TextBox 14"/>
          <p:cNvSpPr txBox="1"/>
          <p:nvPr/>
        </p:nvSpPr>
        <p:spPr>
          <a:xfrm>
            <a:off x="6400800" y="5394960"/>
            <a:ext cx="5212080" cy="914400"/>
          </a:xfrm>
          <a:prstGeom prst="rect">
            <a:avLst/>
          </a:prstGeom>
          <a:noFill/>
        </p:spPr>
        <p:txBody>
          <a:bodyPr wrap="square" anchor="t">
            <a:spAutoFit/>
          </a:bodyPr>
          <a:lstStyle/>
          <a:p>
            <a:pPr algn="ctr">
              <a:spcAft>
                <a:spcPts val="800"/>
              </a:spcAft>
            </a:pPr>
            <a:r>
              <a:rPr sz="2600" b="1">
                <a:solidFill>
                  <a:srgbClr val="1E88E5"/>
                </a:solidFill>
                <a:latin typeface="Arial"/>
              </a:rPr>
              <a:t>Earth's systems work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