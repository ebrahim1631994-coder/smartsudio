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https://www.bbc.co.uk/bitesize/articles/z64swsg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https://www.bbc.co.uk/bitesize/articles/z64swsg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https://www.bbc.co.uk/bitesize/articles/z64swsg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https://www.bbc.co.uk/bitesize/articles/z64swsg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Schematic levels, not measured data or a full reaction profile. Activation energy omitted to focus on net transfer.</a:t>
            </a:r>
          </a:p>
          <a:p>
            <a:r>
              <a:t>Aligned to Lesson Preparation Book entry dated21/10/2026. Science check: https://www.bbc.co.uk/bitesize/articles/z64swsg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data:A rises7C consistent with exothermic;B falls7C consistent with endothermic. Temperature alone does not prove a chemical reaction.</a:t>
            </a:r>
          </a:p>
          <a:p>
            <a:r>
              <a:t>Aligned to Lesson Preparation Book entry dated21/10/2026. Science check: https://www.bbc.co.uk/bitesize/articles/z64swsg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Correct:thermal energy transfers from hand/surroundings into pack. Many instant packs use endothermic dissolution, not necessarily a chemical reaction.</a:t>
            </a:r>
          </a:p>
          <a:p>
            <a:r>
              <a:t>Aligned to Lesson Preparation Book entry dated21/10/2026. Science check: https://www.bbc.co.uk/bitesize/articles/z64swsg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Endo=energy enters;surroundings may cool;breaking bonds requires energy;forming releases. A exo,B endo.</a:t>
            </a:r>
          </a:p>
          <a:p>
            <a:r>
              <a:t>Aligned to Lesson Preparation Book entry dated21/10/2026. Science check: https://www.bbc.co.uk/bitesize/articles/z64swsg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A cold pack takes energy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Your hand / 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Energy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Cold-pack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Does the pack make coldness, or does thermal energy move?</a:t>
            </a:r>
          </a:p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Define endothermic. Trace energy. Compare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Draw a boundary before an energy arrow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The substances involved in the process.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Example: the contents of a cold pack.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SURROUNDINGS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Everything outside the chosen system.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Your hand, air and container can exchange energy with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Endothermic means net energy absorption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Surroundings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Energy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Reaction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As thermal energy moves into the system, nearby surroundings can cool.</a:t>
            </a:r>
          </a:p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Energy is transferred, not destroyed.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Why can a reaction absorb energy overall?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BREAKING BONDS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Requires energy input.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In an endothermic reaction, more energy is absorbed...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FORMING BONDS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Releases energy.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...than is released when new bonds 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SIMPLIFIED ENERGY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Compare the energy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7365D"/>
                </a:solidFill>
                <a:latin typeface="Arial"/>
              </a:defRPr>
            </a:pPr>
            <a:r>
              <a:t>ENDOTHERMIC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5212080"/>
            <a:ext cx="4160520" cy="0"/>
          </a:xfrm>
          <a:prstGeom prst="line">
            <a:avLst/>
          </a:prstGeom>
          <a:ln w="25400">
            <a:solidFill>
              <a:srgbClr val="6275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43000" y="3108960"/>
            <a:ext cx="0" cy="2103120"/>
          </a:xfrm>
          <a:prstGeom prst="line">
            <a:avLst/>
          </a:prstGeom>
          <a:ln w="25400">
            <a:solidFill>
              <a:srgbClr val="6275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463040" y="4663440"/>
            <a:ext cx="1371600" cy="5486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7823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3144"/>
                </a:solidFill>
                <a:latin typeface="Arial"/>
              </a:defRPr>
            </a:pPr>
            <a:r>
              <a:t>Reactants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474720"/>
            <a:ext cx="1371600" cy="5486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5935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3144"/>
                </a:solidFill>
                <a:latin typeface="Arial"/>
              </a:defRPr>
            </a:pPr>
            <a:r>
              <a:t>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852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27588"/>
                </a:solidFill>
                <a:latin typeface="Arial"/>
              </a:defRPr>
            </a:pPr>
            <a:r>
              <a:t>Relative energy (vertical)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49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27588"/>
                </a:solidFill>
                <a:latin typeface="Arial"/>
              </a:defRPr>
            </a:pPr>
            <a:r>
              <a:t>Reaction progress 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8521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7E8B"/>
                </a:solidFill>
                <a:latin typeface="Arial"/>
              </a:defRPr>
            </a:pPr>
            <a:r>
              <a:t>Products higher: net energy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7365D"/>
                </a:solidFill>
                <a:latin typeface="Arial"/>
              </a:defRPr>
            </a:pPr>
            <a:r>
              <a:t>EXOTHERMIC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5212080"/>
            <a:ext cx="4160520" cy="0"/>
          </a:xfrm>
          <a:prstGeom prst="line">
            <a:avLst/>
          </a:prstGeom>
          <a:ln w="25400">
            <a:solidFill>
              <a:srgbClr val="6275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720840" y="3108960"/>
            <a:ext cx="0" cy="2103120"/>
          </a:xfrm>
          <a:prstGeom prst="line">
            <a:avLst/>
          </a:prstGeom>
          <a:ln w="25400">
            <a:solidFill>
              <a:srgbClr val="6275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40880" y="3474720"/>
            <a:ext cx="1371600" cy="5486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35935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3144"/>
                </a:solidFill>
                <a:latin typeface="Arial"/>
              </a:defRPr>
            </a:pPr>
            <a:r>
              <a:t>Reactants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663440"/>
            <a:ext cx="1371600" cy="54864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7823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03144"/>
                </a:solidFill>
                <a:latin typeface="Arial"/>
              </a:defRPr>
            </a:pPr>
            <a:r>
              <a:t>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852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27588"/>
                </a:solidFill>
                <a:latin typeface="Arial"/>
              </a:defRPr>
            </a:pPr>
            <a:r>
              <a:t>Relative energy (vertical)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349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627588"/>
                </a:solidFill>
                <a:latin typeface="Arial"/>
              </a:defRPr>
            </a:pPr>
            <a:r>
              <a:t>Reaction progress 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8521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87E8B"/>
                </a:solidFill>
                <a:latin typeface="Arial"/>
              </a:defRPr>
            </a:pPr>
            <a:r>
              <a:t>Products lower: net energy 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GUIDED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Use temperature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REACTION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Start: 22 C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Finish: 29 C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Which way is energy transferred?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REACTION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Start: 22 C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Finish: 15 C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Which way is energy transferred?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627588"/>
                </a:solidFill>
                <a:latin typeface="Arial"/>
              </a:defRPr>
            </a:pPr>
            <a:r>
              <a:t>Illustrative data. Temperature change alone does not prove a chemical reaction.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PAIR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Repair the cold-pack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CLAIM TO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The cold pack releases coldness into your hand.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What is wrong with this explanation?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YOUR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Name the system.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Draw an energy arrow.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Use: absorbs, surroundings, thermal energy.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87E8B"/>
                </a:solidFill>
                <a:latin typeface="Arial"/>
              </a:defRPr>
            </a:pPr>
            <a:r>
              <a:t>Cold packs illustrate absorption; not every cooling process is a chemical reaction.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7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CHECK &amp;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Energy in or energy out?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Energy Changes in Chemical Reactions | Part4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SMARTSTUDIO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1. Define endothermic.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2. Why can surroundings cool?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3. Does bond breaking need energy?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4. Classify reactions A and 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Endo: energy enters.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Exo: energy exits.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Mister Ibrahim SmartStudio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HW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