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848" y="502920"/>
            <a:ext cx="7772400" cy="113136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2194560"/>
            <a:ext cx="12191695" cy="640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E7C86"/>
                </a:solidFill>
                <a:latin typeface="Arial"/>
              </a:rPr>
              <a:t>Grade 7 Science  |  Dynamic Earth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F3864"/>
                </a:solidFill>
                <a:latin typeface="Arial"/>
              </a:rPr>
              <a:t>Lesson 1: Moving Continents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F3864"/>
                </a:solidFill>
                <a:latin typeface="Arial"/>
              </a:rPr>
              <a:t>Part 1: The Continental Drift Idea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617720"/>
            <a:ext cx="4754880" cy="4572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E7C86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Week 9  •  October 25 - 29, 2026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Mr. Ibrahim Ahmad  •  EDUGATES International School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7  |  DYNAMIC EARTH L1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Lesson Goals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1732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159105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536192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3864"/>
                </a:solidFill>
                <a:latin typeface="Arial"/>
              </a:rPr>
              <a:t>Describe Alfred Wegener's continental drift hypothesis.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6032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73405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79191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3864"/>
                </a:solidFill>
                <a:latin typeface="Arial"/>
              </a:rPr>
              <a:t>Identify the matching-coastline observation that started the idea.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387705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822191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3864"/>
                </a:solidFill>
                <a:latin typeface="Arial"/>
              </a:rPr>
              <a:t>Explain why most scientists first rejected continental drift.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C86"/>
                </a:solidFill>
                <a:latin typeface="Arial"/>
              </a:rPr>
              <a:t>Tell a partner: which goal sounds hardest? Why?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7  |  DYNAMIC EARTH L1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Warm-Up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63040"/>
            <a:ext cx="10881360" cy="15544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1F3864"/>
                </a:solidFill>
                <a:latin typeface="Arial"/>
              </a:rPr>
              <a:t>Look at the cut-out continents on your table. Which pieces seem to fit together - and how could you check?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37560"/>
            <a:ext cx="1088136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103327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Arial"/>
              </a:rPr>
              <a:t>Connection: We know Earth's surface is made of rock materials that change over time. But can whole continents change position?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92040"/>
            <a:ext cx="10881360" cy="10515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Think - Pair - Share: arrange the pieces, then defend your arrangement to another pair.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Warm-up: 3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7  |  DYNAMIC EARTH L1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Key Vocabulary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17320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0876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continental drift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92808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The hypothesis that continents slowly move across Earth's surface.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50876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Pangaea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92808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The ancient supercontinent - "all lands" - about 300 million years ago.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417320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1417320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150876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hypothesis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1892808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A testable explanation that needs evidence.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172968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172968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2644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648456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Observations and data that support (or weaken) an idea.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172968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172968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2644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mechanism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648456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An explanation of HOW something happens.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3172968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19" y="3172968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19" y="32644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supercontinent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3648456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A single huge landmass made of joined continents.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7  |  DYNAMIC EARTH L1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Alfred Wegener and His Big Idea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63040"/>
            <a:ext cx="5212080" cy="44805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6634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BF8F00"/>
                </a:solidFill>
                <a:latin typeface="Arial"/>
              </a:rPr>
              <a:t>Alfred Wegener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German scientist and polar explorer (1880-1930).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In 1912 he proposed continental drift: the continents were once joined and have slowly drifted apart.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DEEBF7"/>
                </a:solidFill>
                <a:latin typeface="Arial"/>
              </a:rPr>
              <a:t>He published his book The Origin of Continents and Oceans in 1915.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5394960" cy="448056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What he claimed: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Long ago, all continents were joined in ONE supercontinent called Pangaea.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Over millions of years it broke apart, and the pieces moved to where they are today.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F3864"/>
                </a:solidFill>
                <a:latin typeface="Arial"/>
              </a:rPr>
              <a:t>The continents are STILL moving - a few centimeters every year.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7  |  DYNAMIC EARTH L1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Pangaea: All Lands in One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pic>
        <p:nvPicPr>
          <p:cNvPr id="8" name="Picture 7" descr="panga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3994516" cy="47091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760720" y="1554480"/>
            <a:ext cx="5760720" cy="420624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783080"/>
            <a:ext cx="521208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About 300 million years ago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all of today's continents were joined in one giant landmass.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Pangaea means "all lands" in Greek.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Around 200 million years ago it began to split apart.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F3864"/>
                </a:solidFill>
                <a:latin typeface="Arial"/>
              </a:rPr>
              <a:t>Find it: South America tucked against Africa - the fit Wegener noticed.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Image: Wikimedia Commons user Kieff, CC BY-SA 3.0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7  |  DYNAMIC EARTH L1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The Matching-Coastline Clue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Arial"/>
              </a:rPr>
              <a:t>The east coast of South America and the west coast of Africa fit together like puzzle pieces.</a:t>
            </a:r>
          </a:p>
        </p:txBody>
      </p:sp>
      <p:sp>
        <p:nvSpPr>
          <p:cNvPr id="9" name="Freeform 8"/>
          <p:cNvSpPr/>
          <p:nvPr/>
        </p:nvSpPr>
        <p:spPr>
          <a:xfrm>
            <a:off x="1097280" y="2103120"/>
            <a:ext cx="4297680" cy="2377440"/>
          </a:xfrm>
          <a:custGeom>
            <a:avLst/>
            <a:gdLst/>
            <a:ahLst/>
            <a:cxnLst/>
            <a:rect l="l" t="t" r="r" b="b"/>
            <a:pathLst>
              <a:path w="4297680" h="2377440">
                <a:moveTo>
                  <a:pt x="0" y="0"/>
                </a:moveTo>
                <a:lnTo>
                  <a:pt x="3657600" y="0"/>
                </a:lnTo>
                <a:lnTo>
                  <a:pt x="3657600" y="640080"/>
                </a:lnTo>
                <a:lnTo>
                  <a:pt x="4297680" y="960120"/>
                </a:lnTo>
                <a:lnTo>
                  <a:pt x="3657600" y="1280160"/>
                </a:lnTo>
                <a:lnTo>
                  <a:pt x="3657600" y="2377440"/>
                </a:lnTo>
                <a:lnTo>
                  <a:pt x="0" y="2377440"/>
                </a:lnTo>
                <a:close/>
              </a:path>
            </a:pathLst>
          </a:custGeom>
          <a:solidFill>
            <a:srgbClr val="0E7C86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5394960" y="2103120"/>
            <a:ext cx="2834640" cy="2377440"/>
          </a:xfrm>
          <a:custGeom>
            <a:avLst/>
            <a:gdLst/>
            <a:ahLst/>
            <a:cxnLst/>
            <a:rect l="l" t="t" r="r" b="b"/>
            <a:pathLst>
              <a:path w="2834640" h="2377440">
                <a:moveTo>
                  <a:pt x="0" y="0"/>
                </a:moveTo>
                <a:lnTo>
                  <a:pt x="2834640" y="0"/>
                </a:lnTo>
                <a:lnTo>
                  <a:pt x="2834640" y="2377440"/>
                </a:lnTo>
                <a:lnTo>
                  <a:pt x="0" y="2377440"/>
                </a:lnTo>
                <a:lnTo>
                  <a:pt x="0" y="1280160"/>
                </a:lnTo>
                <a:lnTo>
                  <a:pt x="640080" y="960120"/>
                </a:lnTo>
                <a:lnTo>
                  <a:pt x="0" y="640080"/>
                </a:lnTo>
                <a:close/>
              </a:path>
            </a:pathLst>
          </a:custGeom>
          <a:solidFill>
            <a:srgbClr val="BF8F00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57200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E7C86"/>
                </a:solidFill>
                <a:latin typeface="Arial"/>
              </a:rPr>
              <a:t>SOUTH AMERICA (east coast)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45720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F8F00"/>
                </a:solidFill>
                <a:latin typeface="Arial"/>
              </a:rPr>
              <a:t>AFRICA (west coast)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2103120"/>
            <a:ext cx="2971800" cy="29260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286000"/>
            <a:ext cx="25146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Wegener was not the first to notice the fit.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1F3864"/>
                </a:solidFill>
                <a:latin typeface="Arial"/>
              </a:rPr>
              <a:t>But he was the first to build a full hypothesis around it.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0E7C86"/>
                </a:solidFill>
                <a:latin typeface="Arial"/>
              </a:rPr>
              <a:t>Question: is a matching shape enough proof?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7  |  DYNAMIC EARTH L1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Why Was the Idea Rejected?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63040"/>
            <a:ext cx="5303520" cy="4480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754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E7C86"/>
                </a:solidFill>
                <a:latin typeface="Arial"/>
              </a:rPr>
              <a:t>The problem: no mechanism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Wegener could not explain HOW huge continents could move.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He suggested they plow through the ocean floor like ships.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Physicists showed the ocean floor is far too strong - that would break the continents apart.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44805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754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BF8F00"/>
                </a:solidFill>
                <a:latin typeface="Arial"/>
              </a:rPr>
              <a:t>What happened next: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Most scientists rejected the idea during Wegener's lifetime.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 good observation is not enough - science needs a testable HOW.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DEEBF7"/>
                </a:solidFill>
                <a:latin typeface="Arial"/>
              </a:rPr>
              <a:t>Decades later, new seafloor evidence proved him right. That story is our next lesson!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7  |  DYNAMIC EARTH L1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Guided Practice: Examine the Fit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Arial"/>
              </a:rPr>
              <a:t>With your partner, study the map of South America and Africa, then answer: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13969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075688"/>
            <a:ext cx="96926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Where exactly do the two coastlines match best? Point to the bulge and the notch.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81528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3255264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191256"/>
            <a:ext cx="96926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Matching shapes are interesting - but are they PROOF the continents moved?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97096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4370832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306824"/>
            <a:ext cx="96926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What other evidence would you look for to test the idea? (Hint: what could you compare on both sides of the ocean?)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04103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0E7C86"/>
                </a:solidFill>
                <a:latin typeface="Arial"/>
              </a:rPr>
              <a:t>Keep question 3 in mind - it leads straight into our next class: fossil and rock evidence.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Guided practice: 8 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7  |  DYNAMIC EARTH L1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Group Activity: Build the Case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17320"/>
            <a:ext cx="2926080" cy="45720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DEEBF7"/>
                </a:solidFill>
                <a:latin typeface="Arial"/>
              </a:rPr>
              <a:t>GROUP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10</a:t>
            </a:r>
          </a:p>
          <a:p>
            <a:pPr algn="ctr">
              <a:spcAft>
                <a:spcPts val="200"/>
              </a:spcAft>
            </a:pPr>
            <a:r>
              <a:rPr sz="1800" b="0">
                <a:solidFill>
                  <a:srgbClr val="DEEBF7"/>
                </a:solidFill>
                <a:latin typeface="Arial"/>
              </a:rPr>
              <a:t>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0624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DEEBF7"/>
                </a:solidFill>
                <a:latin typeface="Arial"/>
              </a:rPr>
              <a:t>Pairs. Worksheets on Classera when you finish.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1417320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23360" y="1572768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517904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In pairs, list every observation from today that supports moving continents.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2441448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023360" y="2596896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542032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Add any OTHER observation you can imagine that would help (be creative but scientific).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3465576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23360" y="3621024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566160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Rank your list from strongest to weakest evidence.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4489704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23360" y="4645152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4590288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Be ready to defend your top choice to the class.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5559552"/>
            <a:ext cx="7680960" cy="1042415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9080" y="5678424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E7C86"/>
                </a:solidFill>
                <a:latin typeface="Arial"/>
              </a:rPr>
              <a:t>Success criteria: 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1F3864"/>
                </a:solidFill>
                <a:latin typeface="Arial"/>
              </a:rPr>
              <a:t>at least 3 observations, ranked, with one reason for your top choice.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Activity: 10 min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7  |  DYNAMIC EARTH L1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Check for Understanding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371600"/>
            <a:ext cx="6949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Quick check - answer on your mini whiteboard: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6949440" cy="84124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011679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956815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Who proposed the continental drift hypothesis, and when?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62072"/>
            <a:ext cx="6949440" cy="84124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4672" y="2999232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944368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What was Pangaea, and what does its name mean?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9624"/>
            <a:ext cx="6949440" cy="84124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986784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931920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Why did most scientists reject Wegener's idea at first?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1371600"/>
            <a:ext cx="3703320" cy="329184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155448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F8F00"/>
                </a:solidFill>
                <a:latin typeface="Arial"/>
              </a:rPr>
              <a:t>EXIT TICKET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057400"/>
            <a:ext cx="32461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Arial"/>
              </a:rPr>
              <a:t>In your own words: give ONE reason scientists rejected continental drift, and say what evidence could have changed their minds.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4892040"/>
            <a:ext cx="3703320" cy="640080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5029200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Homework on Classera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Check: 5 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