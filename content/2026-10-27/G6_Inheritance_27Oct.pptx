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502920"/>
            <a:ext cx="7772400" cy="11313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9456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Grade 6 Science  |  Reproduction of Organisms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864"/>
                </a:solidFill>
                <a:latin typeface="Arial"/>
              </a:rPr>
              <a:t>Lesson 1: Inheritance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864"/>
                </a:solidFill>
                <a:latin typeface="Arial"/>
              </a:rPr>
              <a:t>Part 2: Genes, Alleles and Family Patterns  •  Tuesday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4754880" cy="4572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7C86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Week 9  •  October 25 - 29, 2026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Mr. Ibrahim Ahmad  •  EDUGATES International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Lesson Goals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91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36192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Explain the difference between genotype and phenotype.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734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Use dominant and recessive alleles to explain trait patterns in families.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877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22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Explain why variation makes every brother and sister unique.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Tell a partner: which goal sounds hardest?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Warm-Up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10881360" cy="15544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1F3864"/>
                </a:solidFill>
                <a:latin typeface="Arial"/>
              </a:rPr>
              <a:t>Two parents both have brown eyes. Their baby has BLUE eyes. How is that possible?!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108813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Connection: Yesterday we crossed Tt x Tt and saw a short plant appear from two tall parents. Today we use the same tool on YOUR traits.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10881360" cy="1051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Think - Pair - Share: write your best explanation in one sentence, then compare with your partner.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Warm-up: 3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Key Vocabulary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genotype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gene combination behind a trait - the letters, like Tt.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phenotype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trait you actually see - like tall or short.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dominant allele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allele that shows its trait whenever it is present (capital letter).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recessive allele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allele that shows only when NO dominant allele is present (small letter).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homozygous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Two of the SAME allele: TT or tt.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heterozygous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Two DIFFERENT alleles: Tt - one dominant, one recessive.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Genotype and Phenotype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21208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6634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BF8F00"/>
                </a:solidFill>
                <a:latin typeface="Arial"/>
              </a:rPr>
              <a:t>Genotype = the letters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The gene combination inside your cells: TT, Tt or tt.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You cannot see a genotype - it is written in DNA.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394960" cy="448056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Phenotype = what you SEE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Tall or short. Brown eyes or blue eyes.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Watch out: TT and Tt plants have DIFFERENT genotypes but the SAME tall phenotype.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Mendel's Numbers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1554480"/>
            <a:ext cx="5760720" cy="42062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2120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Mendel crossed two hybrid (Tt) tall plants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and counted the offspring: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787 tall plants and 277 short plants.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Almost exactly 3 tall : 1 short - the 3:1 ratio.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Real numbers proved the hidden alleles were there!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Image: Gregor Mendel portrait, public domain (Wikimedia Commons)</a:t>
            </a:r>
          </a:p>
        </p:txBody>
      </p:sp>
      <p:pic>
        <p:nvPicPr>
          <p:cNvPr id="12" name="Picture 11" descr="mende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371600"/>
            <a:ext cx="3995928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Practice Cross: Brown Eyes  Bb x Bb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B = brown (dominant)   b = blue (recessive). Every parent gives ONE allele.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103120"/>
            <a:ext cx="2971800" cy="29260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286000"/>
            <a:ext cx="2514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Same phenotype can hide different genotypes - that is the family-mystery key.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3864"/>
                </a:solidFill>
                <a:latin typeface="Arial"/>
              </a:rPr>
              <a:t>Question: which BOX is the blue-eyed child?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691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Arial"/>
              </a:rPr>
              <a:t>Cross:  Bb  x  Bb     (B = brown, dominant    b = blue, recessive)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8288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8288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4688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4290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2240280"/>
            <a:ext cx="1600200" cy="960120"/>
          </a:xfrm>
          <a:prstGeom prst="rect">
            <a:avLst/>
          </a:prstGeom>
          <a:solidFill>
            <a:srgbClr val="DEEAF7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23500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BB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27889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E7C86"/>
                </a:solidFill>
                <a:latin typeface="Arial"/>
              </a:rPr>
              <a:t>brown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9272" y="2240280"/>
            <a:ext cx="1600200" cy="960120"/>
          </a:xfrm>
          <a:prstGeom prst="rect">
            <a:avLst/>
          </a:prstGeom>
          <a:solidFill>
            <a:srgbClr val="DEEAF7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9272" y="23500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Bb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272" y="27889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E7C86"/>
                </a:solidFill>
                <a:latin typeface="Arial"/>
              </a:rPr>
              <a:t>brown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3273552"/>
            <a:ext cx="1600200" cy="960120"/>
          </a:xfrm>
          <a:prstGeom prst="rect">
            <a:avLst/>
          </a:prstGeom>
          <a:solidFill>
            <a:srgbClr val="DEEAF7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3383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Bb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3822191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E7C86"/>
                </a:solidFill>
                <a:latin typeface="Arial"/>
              </a:rPr>
              <a:t>brown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9272" y="3273552"/>
            <a:ext cx="1600200" cy="960120"/>
          </a:xfrm>
          <a:prstGeom prst="rect">
            <a:avLst/>
          </a:prstGeom>
          <a:solidFill>
            <a:srgbClr val="FBE4D5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9272" y="3383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bb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9272" y="3822191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E7C86"/>
                </a:solidFill>
                <a:latin typeface="Arial"/>
              </a:rPr>
              <a:t>BLUE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88720" y="4617720"/>
            <a:ext cx="5577840" cy="1188720"/>
          </a:xfrm>
          <a:prstGeom prst="round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47548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3864"/>
                </a:solidFill>
                <a:latin typeface="Arial"/>
              </a:rPr>
              <a:t>Result: BB, Bb, Bb are BROWN - 3 of 4 boxes.</a:t>
            </a:r>
          </a:p>
          <a:p>
            <a:r>
              <a:rPr sz="1300" b="0">
                <a:solidFill>
                  <a:srgbClr val="1F3864"/>
                </a:solidFill>
                <a:latin typeface="Arial"/>
              </a:rPr>
              <a:t>Only bb is BLUE - 1 of 4 boxes (25%). THAT is how two brown-eyed parents can have a blue-eyed child!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Why Siblings Are Different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30352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Variation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Every child gets a different mix of alleles from the same parents.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Like shuffling cards: same deck, different hand every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BF8F00"/>
                </a:solidFill>
                <a:latin typeface="Arial"/>
              </a:rPr>
              <a:t>Nature AND nurture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Height needs genes AND good nutrition.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Skills like reading or swimming are acquired - not in your genes.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DEEBF7"/>
                </a:solidFill>
                <a:latin typeface="Arial"/>
              </a:rPr>
              <a:t>Your traits = inheritance + your life.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Guided Practice: Eye-Color Mystery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With your partner, draw a Punnett square for each question: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75688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Blue eyes are recessive (b). What genotype MUST a blue-eyed child have?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81528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5526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91256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Both parents are Bb. What is the chance of a blue-eyed child?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97096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06824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One parent is BB and the other is Bb. Can they have a blue-eyed child? Explain.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04103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0E7C86"/>
                </a:solidFill>
                <a:latin typeface="Arial"/>
              </a:rPr>
              <a:t>Say your answers using the words genotype and phenotype.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Guided practice: 8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Group Activity: Family Tree Detectives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2926080" cy="4572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EEBF7"/>
                </a:solidFill>
                <a:latin typeface="Arial"/>
              </a:rPr>
              <a:t>GROUP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10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DEEBF7"/>
                </a:solidFill>
                <a:latin typeface="Arial"/>
              </a:rPr>
              <a:t>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EEBF7"/>
                </a:solidFill>
                <a:latin typeface="Arial"/>
              </a:rPr>
              <a:t>Pairs. Worksheets on Classera when you finish.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17320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1572768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17904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In pairs, choose one trait: attached earlobes, dimples or a widow's peak.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441448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23360" y="2596896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42032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Draw a 3-generation family tree and mark who SHOWS the trait (phenotype).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465576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23360" y="3621024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566160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Propose a genotype for each person: BB, Bb or bb (use your own letter).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489704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23360" y="4645152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590288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Present: does your trait look dominant or recessive? Defend it with the tree.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5559552"/>
            <a:ext cx="7680960" cy="104241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5678424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E7C86"/>
                </a:solidFill>
                <a:latin typeface="Arial"/>
              </a:rPr>
              <a:t>Success criteria: 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1F3864"/>
                </a:solidFill>
                <a:latin typeface="Arial"/>
              </a:rPr>
              <a:t>3 generations drawn, phenotypes marked, genotypes proposed and defended.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Activity: 10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 |  PART 2 -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Check for Understanding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Quick check - answer on your mini whiteboard: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011679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56815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What is the difference between genotype and phenotype?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62072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29992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44368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Which allele shows its trait with only ONE copy: dominant or recessive?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9624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98678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93192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In a Bb x Bb cross, what fraction of the offspring show the recessive trait?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371600"/>
            <a:ext cx="3703320" cy="3291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5448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F8F00"/>
                </a:solidFill>
                <a:latin typeface="Arial"/>
              </a:rPr>
              <a:t>EXIT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057400"/>
            <a:ext cx="3246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In your own words: explain how two brown-eyed parents can have a blue-eyed child. Use the words genotype, phenotype and recessive.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892040"/>
            <a:ext cx="3703320" cy="6400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02920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Homework on Classera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Check: 5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